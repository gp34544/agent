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ON AZURE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914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0" y="164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EC8EE"/>
                </a:solidFill>
              </a:rPr>
              <a:t>Microsoft Azure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91440" y="640080"/>
            <a:ext cx="1572768" cy="5623560"/>
          </a:xfrm>
          <a:prstGeom prst="rect">
            <a:avLst/>
          </a:prstGeom>
          <a:solidFill>
            <a:srgbClr val="EBF4FC"/>
          </a:solidFill>
          <a:ln w="12700">
            <a:solidFill>
              <a:srgbClr val="2B88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" y="640080"/>
            <a:ext cx="1572768" cy="301752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4592" y="6400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Ingestion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783080" y="640080"/>
            <a:ext cx="1691640" cy="5623560"/>
          </a:xfrm>
          <a:prstGeom prst="rect">
            <a:avLst/>
          </a:prstGeom>
          <a:solidFill>
            <a:srgbClr val="EBF4FC"/>
          </a:solidFill>
          <a:ln w="12700">
            <a:solidFill>
              <a:srgbClr val="2B88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83080" y="640080"/>
            <a:ext cx="1691640" cy="301752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56232" y="640080"/>
            <a:ext cx="1581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Storage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93592" y="640080"/>
            <a:ext cx="2670048" cy="5623560"/>
          </a:xfrm>
          <a:prstGeom prst="rect">
            <a:avLst/>
          </a:prstGeom>
          <a:solidFill>
            <a:srgbClr val="EBF4FC"/>
          </a:solidFill>
          <a:ln w="12700">
            <a:solidFill>
              <a:srgbClr val="2B88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93592" y="640080"/>
            <a:ext cx="2670048" cy="301752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66744" y="64008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Platform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82512" y="640080"/>
            <a:ext cx="2724912" cy="5623560"/>
          </a:xfrm>
          <a:prstGeom prst="rect">
            <a:avLst/>
          </a:prstGeom>
          <a:solidFill>
            <a:srgbClr val="EBF4FC"/>
          </a:solidFill>
          <a:ln w="12700">
            <a:solidFill>
              <a:srgbClr val="2B88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82512" y="640080"/>
            <a:ext cx="2724912" cy="301752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55664" y="640080"/>
            <a:ext cx="2615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Platform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235440" y="640080"/>
            <a:ext cx="2816352" cy="5623560"/>
          </a:xfrm>
          <a:prstGeom prst="rect">
            <a:avLst/>
          </a:prstGeom>
          <a:solidFill>
            <a:srgbClr val="EBF4FC"/>
          </a:solidFill>
          <a:ln w="12700">
            <a:solidFill>
              <a:srgbClr val="2B88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35440" y="640080"/>
            <a:ext cx="2816352" cy="301752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08592" y="640080"/>
            <a:ext cx="2706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Consumption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55664" y="9875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8D4"/>
                </a:solidFill>
              </a:rPr>
              <a:t>Azure OpenAI Service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308592" y="9875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8D4"/>
                </a:solidFill>
              </a:rPr>
              <a:t>App Service (Deployment)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46304" y="1115568"/>
            <a:ext cx="493776" cy="219456"/>
          </a:xfrm>
          <a:prstGeom prst="rect">
            <a:avLst/>
          </a:prstGeom>
          <a:solidFill>
            <a:srgbClr val="CC2929"/>
          </a:solidFill>
          <a:ln w="12700">
            <a:solidFill>
              <a:srgbClr val="CC292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6304" y="1115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PDF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146304" y="1380744"/>
            <a:ext cx="493776" cy="219456"/>
          </a:xfrm>
          <a:prstGeom prst="rect">
            <a:avLst/>
          </a:prstGeom>
          <a:solidFill>
            <a:srgbClr val="CC2929"/>
          </a:solidFill>
          <a:ln w="12700">
            <a:solidFill>
              <a:srgbClr val="CC292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6304" y="138074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PDF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146304" y="1645920"/>
            <a:ext cx="493776" cy="219456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6304" y="164592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XLS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146304" y="1911096"/>
            <a:ext cx="493776" cy="219456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6304" y="191109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XLS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09728" y="9692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7A9A"/>
                </a:solidFill>
              </a:rPr>
              <a:t>File Upload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92024" y="2615184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92024" y="2615184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706624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237744" y="31089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Azure Data Factory</a:t>
            </a:r>
            <a:endParaRPr lang="en-US" sz="780" dirty="0"/>
          </a:p>
        </p:txBody>
      </p:sp>
      <p:sp>
        <p:nvSpPr>
          <p:cNvPr id="37" name="Text 33"/>
          <p:cNvSpPr/>
          <p:nvPr/>
        </p:nvSpPr>
        <p:spPr>
          <a:xfrm>
            <a:off x="237744" y="33467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Ingestion Pipeline</a:t>
            </a:r>
            <a:endParaRPr lang="en-US" sz="630" dirty="0"/>
          </a:p>
        </p:txBody>
      </p:sp>
      <p:sp>
        <p:nvSpPr>
          <p:cNvPr id="38" name="Shape 34"/>
          <p:cNvSpPr/>
          <p:nvPr/>
        </p:nvSpPr>
        <p:spPr>
          <a:xfrm>
            <a:off x="265176" y="2112264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65176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393192" y="2359152"/>
            <a:ext cx="0" cy="274320"/>
          </a:xfrm>
          <a:prstGeom prst="line">
            <a:avLst/>
          </a:prstGeom>
          <a:noFill/>
          <a:ln w="20320">
            <a:solidFill>
              <a:srgbClr val="0078D4"/>
            </a:solidFill>
            <a:prstDash val="solid"/>
            <a:tailEnd type="arrow"/>
          </a:ln>
        </p:spPr>
      </p:sp>
      <p:sp>
        <p:nvSpPr>
          <p:cNvPr id="41" name="Shape 37"/>
          <p:cNvSpPr/>
          <p:nvPr/>
        </p:nvSpPr>
        <p:spPr>
          <a:xfrm>
            <a:off x="1581912" y="3108960"/>
            <a:ext cx="320040" cy="0"/>
          </a:xfrm>
          <a:prstGeom prst="line">
            <a:avLst/>
          </a:prstGeom>
          <a:noFill/>
          <a:ln w="20320">
            <a:solidFill>
              <a:srgbClr val="0078D4"/>
            </a:solidFill>
            <a:prstDash val="solid"/>
            <a:tailEnd type="arrow"/>
          </a:ln>
        </p:spPr>
      </p:sp>
      <p:sp>
        <p:nvSpPr>
          <p:cNvPr id="42" name="Shape 38"/>
          <p:cNvSpPr/>
          <p:nvPr/>
        </p:nvSpPr>
        <p:spPr>
          <a:xfrm>
            <a:off x="1613916" y="2980944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613916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1938528" y="2615184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1938528" y="2615184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2706624"/>
            <a:ext cx="365760" cy="36576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984248" y="31089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ADLS Gen2</a:t>
            </a:r>
            <a:endParaRPr lang="en-US" sz="780" dirty="0"/>
          </a:p>
        </p:txBody>
      </p:sp>
      <p:sp>
        <p:nvSpPr>
          <p:cNvPr id="48" name="Text 43"/>
          <p:cNvSpPr/>
          <p:nvPr/>
        </p:nvSpPr>
        <p:spPr>
          <a:xfrm>
            <a:off x="1984248" y="33467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Data Lake Storage</a:t>
            </a:r>
            <a:endParaRPr lang="en-US" sz="630" dirty="0"/>
          </a:p>
        </p:txBody>
      </p:sp>
      <p:sp>
        <p:nvSpPr>
          <p:cNvPr id="49" name="Shape 44"/>
          <p:cNvSpPr/>
          <p:nvPr/>
        </p:nvSpPr>
        <p:spPr>
          <a:xfrm>
            <a:off x="3328416" y="3108960"/>
            <a:ext cx="384048" cy="0"/>
          </a:xfrm>
          <a:prstGeom prst="line">
            <a:avLst/>
          </a:prstGeom>
          <a:noFill/>
          <a:ln w="20320">
            <a:solidFill>
              <a:srgbClr val="0078D4"/>
            </a:solidFill>
            <a:prstDash val="solid"/>
            <a:tailEnd type="arrow"/>
          </a:ln>
        </p:spPr>
      </p:sp>
      <p:sp>
        <p:nvSpPr>
          <p:cNvPr id="50" name="Shape 45"/>
          <p:cNvSpPr/>
          <p:nvPr/>
        </p:nvSpPr>
        <p:spPr>
          <a:xfrm>
            <a:off x="3392424" y="2980944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392424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3886200" y="1170432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3886200" y="1170432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1261872"/>
            <a:ext cx="365760" cy="36576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3931920" y="16642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Azure Synapse Analytics</a:t>
            </a:r>
            <a:endParaRPr lang="en-US" sz="780" dirty="0"/>
          </a:p>
        </p:txBody>
      </p:sp>
      <p:sp>
        <p:nvSpPr>
          <p:cNvPr id="56" name="Text 50"/>
          <p:cNvSpPr/>
          <p:nvPr/>
        </p:nvSpPr>
        <p:spPr>
          <a:xfrm>
            <a:off x="3931920" y="19019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Pipeline / Compute</a:t>
            </a:r>
            <a:endParaRPr lang="en-US" sz="630" dirty="0"/>
          </a:p>
        </p:txBody>
      </p:sp>
      <p:sp>
        <p:nvSpPr>
          <p:cNvPr id="57" name="Shape 51"/>
          <p:cNvSpPr/>
          <p:nvPr/>
        </p:nvSpPr>
        <p:spPr>
          <a:xfrm>
            <a:off x="3328416" y="2788920"/>
            <a:ext cx="576072" cy="-822960"/>
          </a:xfrm>
          <a:prstGeom prst="line">
            <a:avLst/>
          </a:prstGeom>
          <a:noFill/>
          <a:ln w="16510">
            <a:solidFill>
              <a:srgbClr val="2B88D8"/>
            </a:solidFill>
            <a:prstDash val="sysDash"/>
            <a:tailEnd type="arrow"/>
          </a:ln>
        </p:spPr>
      </p:sp>
      <p:sp>
        <p:nvSpPr>
          <p:cNvPr id="58" name="Shape 52"/>
          <p:cNvSpPr/>
          <p:nvPr/>
        </p:nvSpPr>
        <p:spPr>
          <a:xfrm>
            <a:off x="3886200" y="2615184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3886200" y="2615184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2706624"/>
            <a:ext cx="365760" cy="365760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3931920" y="31089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Document Intelligence</a:t>
            </a:r>
            <a:endParaRPr lang="en-US" sz="780" dirty="0"/>
          </a:p>
        </p:txBody>
      </p:sp>
      <p:sp>
        <p:nvSpPr>
          <p:cNvPr id="62" name="Text 55"/>
          <p:cNvSpPr/>
          <p:nvPr/>
        </p:nvSpPr>
        <p:spPr>
          <a:xfrm>
            <a:off x="3931920" y="33467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Chunking / Splitting</a:t>
            </a:r>
            <a:endParaRPr lang="en-US" sz="630" dirty="0"/>
          </a:p>
        </p:txBody>
      </p:sp>
      <p:sp>
        <p:nvSpPr>
          <p:cNvPr id="63" name="Shape 56"/>
          <p:cNvSpPr/>
          <p:nvPr/>
        </p:nvSpPr>
        <p:spPr>
          <a:xfrm>
            <a:off x="4581144" y="2157984"/>
            <a:ext cx="0" cy="466344"/>
          </a:xfrm>
          <a:prstGeom prst="line">
            <a:avLst/>
          </a:prstGeom>
          <a:noFill/>
          <a:ln w="20320">
            <a:solidFill>
              <a:srgbClr val="0078D4"/>
            </a:solidFill>
            <a:prstDash val="solid"/>
            <a:tailEnd type="arrow"/>
          </a:ln>
        </p:spPr>
      </p:sp>
      <p:sp>
        <p:nvSpPr>
          <p:cNvPr id="64" name="Text 57"/>
          <p:cNvSpPr/>
          <p:nvPr/>
        </p:nvSpPr>
        <p:spPr>
          <a:xfrm>
            <a:off x="4645152" y="229971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B7A9A"/>
                </a:solidFill>
              </a:rPr>
              <a:t>process</a:t>
            </a:r>
            <a:endParaRPr lang="en-US" sz="620" dirty="0"/>
          </a:p>
        </p:txBody>
      </p:sp>
      <p:sp>
        <p:nvSpPr>
          <p:cNvPr id="65" name="Shape 58"/>
          <p:cNvSpPr/>
          <p:nvPr/>
        </p:nvSpPr>
        <p:spPr>
          <a:xfrm>
            <a:off x="4453128" y="2263140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4453128" y="22631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67" name="Shape 60"/>
          <p:cNvSpPr/>
          <p:nvPr/>
        </p:nvSpPr>
        <p:spPr>
          <a:xfrm>
            <a:off x="3886200" y="4215384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68" name="Shape 61"/>
          <p:cNvSpPr/>
          <p:nvPr/>
        </p:nvSpPr>
        <p:spPr>
          <a:xfrm>
            <a:off x="3886200" y="4215384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4306824"/>
            <a:ext cx="365760" cy="365760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3931920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Azure AI Search</a:t>
            </a:r>
            <a:endParaRPr lang="en-US" sz="780" dirty="0"/>
          </a:p>
        </p:txBody>
      </p:sp>
      <p:sp>
        <p:nvSpPr>
          <p:cNvPr id="71" name="Text 63"/>
          <p:cNvSpPr/>
          <p:nvPr/>
        </p:nvSpPr>
        <p:spPr>
          <a:xfrm>
            <a:off x="3931920" y="49469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Vector Index (HNSW)</a:t>
            </a:r>
            <a:endParaRPr lang="en-US" sz="630" dirty="0"/>
          </a:p>
        </p:txBody>
      </p:sp>
      <p:sp>
        <p:nvSpPr>
          <p:cNvPr id="72" name="Shape 64"/>
          <p:cNvSpPr/>
          <p:nvPr/>
        </p:nvSpPr>
        <p:spPr>
          <a:xfrm>
            <a:off x="4581144" y="3602736"/>
            <a:ext cx="0" cy="667512"/>
          </a:xfrm>
          <a:prstGeom prst="line">
            <a:avLst/>
          </a:prstGeom>
          <a:noFill/>
          <a:ln w="20320">
            <a:solidFill>
              <a:srgbClr val="0078D4"/>
            </a:solidFill>
            <a:prstDash val="solid"/>
            <a:tailEnd type="arrow"/>
          </a:ln>
        </p:spPr>
      </p:sp>
      <p:sp>
        <p:nvSpPr>
          <p:cNvPr id="73" name="Text 65"/>
          <p:cNvSpPr/>
          <p:nvPr/>
        </p:nvSpPr>
        <p:spPr>
          <a:xfrm>
            <a:off x="4645152" y="384505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B7A9A"/>
                </a:solidFill>
              </a:rPr>
              <a:t>store vectors</a:t>
            </a:r>
            <a:endParaRPr lang="en-US" sz="620" dirty="0"/>
          </a:p>
        </p:txBody>
      </p:sp>
      <p:sp>
        <p:nvSpPr>
          <p:cNvPr id="74" name="Shape 66"/>
          <p:cNvSpPr/>
          <p:nvPr/>
        </p:nvSpPr>
        <p:spPr>
          <a:xfrm>
            <a:off x="4453128" y="3808476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4453128" y="38084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76" name="Shape 68"/>
          <p:cNvSpPr/>
          <p:nvPr/>
        </p:nvSpPr>
        <p:spPr>
          <a:xfrm>
            <a:off x="6803136" y="1170432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7" name="Shape 69"/>
          <p:cNvSpPr/>
          <p:nvPr/>
        </p:nvSpPr>
        <p:spPr>
          <a:xfrm>
            <a:off x="6803136" y="1170432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261872"/>
            <a:ext cx="365760" cy="365760"/>
          </a:xfrm>
          <a:prstGeom prst="rect">
            <a:avLst/>
          </a:prstGeom>
        </p:spPr>
      </p:pic>
      <p:sp>
        <p:nvSpPr>
          <p:cNvPr id="79" name="Text 70"/>
          <p:cNvSpPr/>
          <p:nvPr/>
        </p:nvSpPr>
        <p:spPr>
          <a:xfrm>
            <a:off x="6848856" y="16642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Embeddings Model</a:t>
            </a:r>
            <a:endParaRPr lang="en-US" sz="780" dirty="0"/>
          </a:p>
        </p:txBody>
      </p:sp>
      <p:sp>
        <p:nvSpPr>
          <p:cNvPr id="80" name="Text 71"/>
          <p:cNvSpPr/>
          <p:nvPr/>
        </p:nvSpPr>
        <p:spPr>
          <a:xfrm>
            <a:off x="6848856" y="19019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text-embedding-ada-002</a:t>
            </a:r>
            <a:endParaRPr lang="en-US" sz="630" dirty="0"/>
          </a:p>
        </p:txBody>
      </p:sp>
      <p:sp>
        <p:nvSpPr>
          <p:cNvPr id="81" name="Shape 72"/>
          <p:cNvSpPr/>
          <p:nvPr/>
        </p:nvSpPr>
        <p:spPr>
          <a:xfrm>
            <a:off x="5276088" y="4709160"/>
            <a:ext cx="1536192" cy="-2743200"/>
          </a:xfrm>
          <a:prstGeom prst="line">
            <a:avLst/>
          </a:prstGeom>
          <a:noFill/>
          <a:ln w="16510">
            <a:solidFill>
              <a:srgbClr val="2B88D8"/>
            </a:solidFill>
            <a:prstDash val="sysDash"/>
            <a:tailEnd type="arrow"/>
          </a:ln>
        </p:spPr>
      </p:sp>
      <p:sp>
        <p:nvSpPr>
          <p:cNvPr id="82" name="Text 73"/>
          <p:cNvSpPr/>
          <p:nvPr/>
        </p:nvSpPr>
        <p:spPr>
          <a:xfrm>
            <a:off x="5632704" y="336499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i="1" dirty="0">
                <a:solidFill>
                  <a:srgbClr val="5B7A9A"/>
                </a:solidFill>
              </a:rPr>
              <a:t>Similarity Search</a:t>
            </a:r>
            <a:endParaRPr lang="en-US" sz="620" dirty="0"/>
          </a:p>
        </p:txBody>
      </p:sp>
      <p:sp>
        <p:nvSpPr>
          <p:cNvPr id="83" name="Shape 74"/>
          <p:cNvSpPr/>
          <p:nvPr/>
        </p:nvSpPr>
        <p:spPr>
          <a:xfrm>
            <a:off x="5916168" y="3209544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" name="Text 75"/>
          <p:cNvSpPr/>
          <p:nvPr/>
        </p:nvSpPr>
        <p:spPr>
          <a:xfrm>
            <a:off x="5916168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  <p:sp>
        <p:nvSpPr>
          <p:cNvPr id="85" name="Shape 76"/>
          <p:cNvSpPr/>
          <p:nvPr/>
        </p:nvSpPr>
        <p:spPr>
          <a:xfrm>
            <a:off x="7498080" y="2157984"/>
            <a:ext cx="0" cy="466344"/>
          </a:xfrm>
          <a:prstGeom prst="line">
            <a:avLst/>
          </a:prstGeom>
          <a:noFill/>
          <a:ln w="20320">
            <a:solidFill>
              <a:srgbClr val="0078D4"/>
            </a:solidFill>
            <a:prstDash val="solid"/>
            <a:tailEnd type="arrow"/>
          </a:ln>
        </p:spPr>
      </p:sp>
      <p:sp>
        <p:nvSpPr>
          <p:cNvPr id="86" name="Shape 77"/>
          <p:cNvSpPr/>
          <p:nvPr/>
        </p:nvSpPr>
        <p:spPr>
          <a:xfrm>
            <a:off x="7370064" y="2263140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" name="Text 78"/>
          <p:cNvSpPr/>
          <p:nvPr/>
        </p:nvSpPr>
        <p:spPr>
          <a:xfrm>
            <a:off x="7370064" y="22631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  <p:sp>
        <p:nvSpPr>
          <p:cNvPr id="88" name="Shape 79"/>
          <p:cNvSpPr/>
          <p:nvPr/>
        </p:nvSpPr>
        <p:spPr>
          <a:xfrm>
            <a:off x="6803136" y="2615184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89" name="Shape 80"/>
          <p:cNvSpPr/>
          <p:nvPr/>
        </p:nvSpPr>
        <p:spPr>
          <a:xfrm>
            <a:off x="6803136" y="2615184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9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2706624"/>
            <a:ext cx="365760" cy="365760"/>
          </a:xfrm>
          <a:prstGeom prst="rect">
            <a:avLst/>
          </a:prstGeom>
        </p:spPr>
      </p:pic>
      <p:sp>
        <p:nvSpPr>
          <p:cNvPr id="91" name="Text 81"/>
          <p:cNvSpPr/>
          <p:nvPr/>
        </p:nvSpPr>
        <p:spPr>
          <a:xfrm>
            <a:off x="6848856" y="31089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Text Generation</a:t>
            </a:r>
            <a:endParaRPr lang="en-US" sz="780" dirty="0"/>
          </a:p>
        </p:txBody>
      </p:sp>
      <p:sp>
        <p:nvSpPr>
          <p:cNvPr id="92" name="Text 82"/>
          <p:cNvSpPr/>
          <p:nvPr/>
        </p:nvSpPr>
        <p:spPr>
          <a:xfrm>
            <a:off x="6848856" y="33467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GPT-4o / GPT-4 Turbo</a:t>
            </a:r>
            <a:endParaRPr lang="en-US" sz="630" dirty="0"/>
          </a:p>
        </p:txBody>
      </p:sp>
      <p:sp>
        <p:nvSpPr>
          <p:cNvPr id="93" name="Shape 83"/>
          <p:cNvSpPr/>
          <p:nvPr/>
        </p:nvSpPr>
        <p:spPr>
          <a:xfrm>
            <a:off x="6803136" y="4215384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94" name="Shape 84"/>
          <p:cNvSpPr/>
          <p:nvPr/>
        </p:nvSpPr>
        <p:spPr>
          <a:xfrm>
            <a:off x="6803136" y="4215384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9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4306824"/>
            <a:ext cx="365760" cy="365760"/>
          </a:xfrm>
          <a:prstGeom prst="rect">
            <a:avLst/>
          </a:prstGeom>
        </p:spPr>
      </p:pic>
      <p:sp>
        <p:nvSpPr>
          <p:cNvPr id="96" name="Text 85"/>
          <p:cNvSpPr/>
          <p:nvPr/>
        </p:nvSpPr>
        <p:spPr>
          <a:xfrm>
            <a:off x="6848856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Azure AI Foundry</a:t>
            </a:r>
            <a:endParaRPr lang="en-US" sz="780" dirty="0"/>
          </a:p>
        </p:txBody>
      </p:sp>
      <p:sp>
        <p:nvSpPr>
          <p:cNvPr id="97" name="Text 86"/>
          <p:cNvSpPr/>
          <p:nvPr/>
        </p:nvSpPr>
        <p:spPr>
          <a:xfrm>
            <a:off x="6848856" y="49469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Prompt Flow</a:t>
            </a:r>
            <a:endParaRPr lang="en-US" sz="630" dirty="0"/>
          </a:p>
        </p:txBody>
      </p:sp>
      <p:sp>
        <p:nvSpPr>
          <p:cNvPr id="98" name="Shape 87"/>
          <p:cNvSpPr/>
          <p:nvPr/>
        </p:nvSpPr>
        <p:spPr>
          <a:xfrm>
            <a:off x="9592056" y="1170432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99" name="Shape 88"/>
          <p:cNvSpPr/>
          <p:nvPr/>
        </p:nvSpPr>
        <p:spPr>
          <a:xfrm>
            <a:off x="9592056" y="1170432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0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4120" y="1261872"/>
            <a:ext cx="365760" cy="365760"/>
          </a:xfrm>
          <a:prstGeom prst="rect">
            <a:avLst/>
          </a:prstGeom>
        </p:spPr>
      </p:pic>
      <p:sp>
        <p:nvSpPr>
          <p:cNvPr id="101" name="Text 89"/>
          <p:cNvSpPr/>
          <p:nvPr/>
        </p:nvSpPr>
        <p:spPr>
          <a:xfrm>
            <a:off x="9637776" y="16642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Azure App Service</a:t>
            </a:r>
            <a:endParaRPr lang="en-US" sz="780" dirty="0"/>
          </a:p>
        </p:txBody>
      </p:sp>
      <p:sp>
        <p:nvSpPr>
          <p:cNvPr id="102" name="Text 90"/>
          <p:cNvSpPr/>
          <p:nvPr/>
        </p:nvSpPr>
        <p:spPr>
          <a:xfrm>
            <a:off x="9637776" y="19019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Streamlit UI</a:t>
            </a:r>
            <a:endParaRPr lang="en-US" sz="630" dirty="0"/>
          </a:p>
        </p:txBody>
      </p:sp>
      <p:sp>
        <p:nvSpPr>
          <p:cNvPr id="103" name="Shape 91"/>
          <p:cNvSpPr/>
          <p:nvPr/>
        </p:nvSpPr>
        <p:spPr>
          <a:xfrm>
            <a:off x="8193024" y="3108960"/>
            <a:ext cx="1161288" cy="0"/>
          </a:xfrm>
          <a:prstGeom prst="line">
            <a:avLst/>
          </a:prstGeom>
          <a:noFill/>
          <a:ln w="20320">
            <a:solidFill>
              <a:srgbClr val="0078D4"/>
            </a:solidFill>
            <a:prstDash val="solid"/>
            <a:tailEnd type="arrow"/>
          </a:ln>
        </p:spPr>
      </p:sp>
      <p:sp>
        <p:nvSpPr>
          <p:cNvPr id="104" name="Text 92"/>
          <p:cNvSpPr/>
          <p:nvPr/>
        </p:nvSpPr>
        <p:spPr>
          <a:xfrm>
            <a:off x="8362188" y="29260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i="1" dirty="0">
                <a:solidFill>
                  <a:srgbClr val="5B7A9A"/>
                </a:solidFill>
              </a:rPr>
              <a:t>Final Output</a:t>
            </a:r>
            <a:endParaRPr lang="en-US" sz="620" dirty="0"/>
          </a:p>
        </p:txBody>
      </p:sp>
      <p:sp>
        <p:nvSpPr>
          <p:cNvPr id="105" name="Shape 93"/>
          <p:cNvSpPr/>
          <p:nvPr/>
        </p:nvSpPr>
        <p:spPr>
          <a:xfrm>
            <a:off x="9592056" y="2615184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06" name="Shape 94"/>
          <p:cNvSpPr/>
          <p:nvPr/>
        </p:nvSpPr>
        <p:spPr>
          <a:xfrm>
            <a:off x="9592056" y="2615184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0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4120" y="2706624"/>
            <a:ext cx="365760" cy="365760"/>
          </a:xfrm>
          <a:prstGeom prst="rect">
            <a:avLst/>
          </a:prstGeom>
        </p:spPr>
      </p:pic>
      <p:sp>
        <p:nvSpPr>
          <p:cNvPr id="108" name="Text 95"/>
          <p:cNvSpPr/>
          <p:nvPr/>
        </p:nvSpPr>
        <p:spPr>
          <a:xfrm>
            <a:off x="9637776" y="31089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QA → Embedding</a:t>
            </a:r>
            <a:endParaRPr lang="en-US" sz="780" dirty="0"/>
          </a:p>
        </p:txBody>
      </p:sp>
      <p:sp>
        <p:nvSpPr>
          <p:cNvPr id="109" name="Text 96"/>
          <p:cNvSpPr/>
          <p:nvPr/>
        </p:nvSpPr>
        <p:spPr>
          <a:xfrm>
            <a:off x="9637776" y="33467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Azure OpenAI</a:t>
            </a:r>
            <a:endParaRPr lang="en-US" sz="630" dirty="0"/>
          </a:p>
        </p:txBody>
      </p:sp>
      <p:sp>
        <p:nvSpPr>
          <p:cNvPr id="110" name="Shape 97"/>
          <p:cNvSpPr/>
          <p:nvPr/>
        </p:nvSpPr>
        <p:spPr>
          <a:xfrm>
            <a:off x="9226296" y="2980944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1" name="Text 98"/>
          <p:cNvSpPr/>
          <p:nvPr/>
        </p:nvSpPr>
        <p:spPr>
          <a:xfrm>
            <a:off x="9226296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112" name="Shape 99"/>
          <p:cNvSpPr/>
          <p:nvPr/>
        </p:nvSpPr>
        <p:spPr>
          <a:xfrm>
            <a:off x="9592056" y="4215384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13" name="Shape 100"/>
          <p:cNvSpPr/>
          <p:nvPr/>
        </p:nvSpPr>
        <p:spPr>
          <a:xfrm>
            <a:off x="9592056" y="4215384"/>
            <a:ext cx="1389888" cy="5303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4120" y="4306824"/>
            <a:ext cx="365760" cy="365760"/>
          </a:xfrm>
          <a:prstGeom prst="rect">
            <a:avLst/>
          </a:prstGeom>
        </p:spPr>
      </p:pic>
      <p:sp>
        <p:nvSpPr>
          <p:cNvPr id="115" name="Text 101"/>
          <p:cNvSpPr/>
          <p:nvPr/>
        </p:nvSpPr>
        <p:spPr>
          <a:xfrm>
            <a:off x="9637776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2D3D"/>
                </a:solidFill>
              </a:rPr>
              <a:t>Prompt Engineering</a:t>
            </a:r>
            <a:endParaRPr lang="en-US" sz="780" dirty="0"/>
          </a:p>
        </p:txBody>
      </p:sp>
      <p:sp>
        <p:nvSpPr>
          <p:cNvPr id="116" name="Text 102"/>
          <p:cNvSpPr/>
          <p:nvPr/>
        </p:nvSpPr>
        <p:spPr>
          <a:xfrm>
            <a:off x="9637776" y="49469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7A9A"/>
                </a:solidFill>
              </a:rPr>
              <a:t>+ Context Retrieval</a:t>
            </a:r>
            <a:endParaRPr lang="en-US" sz="630" dirty="0"/>
          </a:p>
        </p:txBody>
      </p:sp>
      <p:sp>
        <p:nvSpPr>
          <p:cNvPr id="117" name="Shape 103"/>
          <p:cNvSpPr/>
          <p:nvPr/>
        </p:nvSpPr>
        <p:spPr>
          <a:xfrm>
            <a:off x="9226296" y="4581144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04"/>
          <p:cNvSpPr/>
          <p:nvPr/>
        </p:nvSpPr>
        <p:spPr>
          <a:xfrm>
            <a:off x="9226296" y="4581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119" name="Shape 105"/>
          <p:cNvSpPr/>
          <p:nvPr/>
        </p:nvSpPr>
        <p:spPr>
          <a:xfrm>
            <a:off x="10963656" y="1664208"/>
            <a:ext cx="557784" cy="0"/>
          </a:xfrm>
          <a:prstGeom prst="line">
            <a:avLst/>
          </a:prstGeom>
          <a:noFill/>
          <a:ln w="20320">
            <a:solidFill>
              <a:srgbClr val="0078D4"/>
            </a:solidFill>
            <a:prstDash val="solid"/>
            <a:tailEnd type="arrow"/>
          </a:ln>
        </p:spPr>
      </p:sp>
      <p:sp>
        <p:nvSpPr>
          <p:cNvPr id="120" name="Shape 106"/>
          <p:cNvSpPr/>
          <p:nvPr/>
        </p:nvSpPr>
        <p:spPr>
          <a:xfrm>
            <a:off x="11114532" y="1536192"/>
            <a:ext cx="256032" cy="256032"/>
          </a:xfrm>
          <a:prstGeom prst="ellipse">
            <a:avLst/>
          </a:prstGeom>
          <a:solidFill>
            <a:srgbClr val="003F6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1" name="Text 107"/>
          <p:cNvSpPr/>
          <p:nvPr/>
        </p:nvSpPr>
        <p:spPr>
          <a:xfrm>
            <a:off x="11114532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  <p:sp>
        <p:nvSpPr>
          <p:cNvPr id="122" name="Shape 108"/>
          <p:cNvSpPr/>
          <p:nvPr/>
        </p:nvSpPr>
        <p:spPr>
          <a:xfrm>
            <a:off x="11539728" y="1170432"/>
            <a:ext cx="548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B88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3" name="Shape 109"/>
          <p:cNvSpPr/>
          <p:nvPr/>
        </p:nvSpPr>
        <p:spPr>
          <a:xfrm>
            <a:off x="11539728" y="1170432"/>
            <a:ext cx="54864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4" name="Text 110"/>
          <p:cNvSpPr/>
          <p:nvPr/>
        </p:nvSpPr>
        <p:spPr>
          <a:xfrm>
            <a:off x="11539728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25" name="Text 111"/>
          <p:cNvSpPr/>
          <p:nvPr/>
        </p:nvSpPr>
        <p:spPr>
          <a:xfrm>
            <a:off x="11539728" y="15361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D3D"/>
                </a:solidFill>
              </a:rPr>
              <a:t>End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D3D"/>
                </a:solidFill>
              </a:rPr>
              <a:t>User</a:t>
            </a:r>
            <a:endParaRPr lang="en-US" sz="700" dirty="0"/>
          </a:p>
        </p:txBody>
      </p:sp>
      <p:sp>
        <p:nvSpPr>
          <p:cNvPr id="126" name="Text 112"/>
          <p:cNvSpPr/>
          <p:nvPr/>
        </p:nvSpPr>
        <p:spPr>
          <a:xfrm>
            <a:off x="11539728" y="20299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💻📱</a:t>
            </a:r>
            <a:endParaRPr lang="en-US" sz="1000" dirty="0"/>
          </a:p>
        </p:txBody>
      </p:sp>
      <p:sp>
        <p:nvSpPr>
          <p:cNvPr id="127" name="Shape 11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28" name="Text 114"/>
          <p:cNvSpPr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EC8EE"/>
                </a:solidFill>
              </a:rPr>
              <a:t>Data Flow:  ① File Upload  →  ② ADF Ingestion  →  ③ ADLS Gen2  →  ④ Synapse Analytics  →  ⑤ Vector Store  →  ⑧ Similarity Search  →  ⑨ GPT-4o  →  ⑩ App Service  →  End User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SERVICES REQUIRED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914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EC8EE"/>
                </a:solidFill>
              </a:rPr>
              <a:t>AWS → Azure Mapping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09728" y="640080"/>
            <a:ext cx="2834640" cy="6016752"/>
          </a:xfrm>
          <a:prstGeom prst="rect">
            <a:avLst/>
          </a:prstGeom>
          <a:solidFill>
            <a:srgbClr val="F4F7FB"/>
          </a:solidFill>
          <a:ln w="12700">
            <a:solidFill>
              <a:srgbClr val="C8DF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" y="640080"/>
            <a:ext cx="2834640" cy="402336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132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" y="640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 &amp; Ingestion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01168" y="1097280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01168" y="1097280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9184" y="1280160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32588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5528" y="1188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Data Lake Storage Gen2</a:t>
            </a:r>
            <a:endParaRPr lang="en-US" sz="880" dirty="0"/>
          </a:p>
        </p:txBody>
      </p:sp>
      <p:sp>
        <p:nvSpPr>
          <p:cNvPr id="16" name="Shape 11"/>
          <p:cNvSpPr/>
          <p:nvPr/>
        </p:nvSpPr>
        <p:spPr>
          <a:xfrm>
            <a:off x="795528" y="1645920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13816" y="165506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AWS S3</a:t>
            </a:r>
            <a:endParaRPr lang="en-US" sz="660" dirty="0"/>
          </a:p>
        </p:txBody>
      </p:sp>
      <p:sp>
        <p:nvSpPr>
          <p:cNvPr id="18" name="Shape 13"/>
          <p:cNvSpPr/>
          <p:nvPr/>
        </p:nvSpPr>
        <p:spPr>
          <a:xfrm>
            <a:off x="292608" y="1901952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92608" y="1975104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Primary data lake for raw files, chunks and vector data. Hierarchical namespace with enterprise-grade security.</a:t>
            </a:r>
            <a:endParaRPr lang="en-US" sz="780" dirty="0"/>
          </a:p>
        </p:txBody>
      </p:sp>
      <p:sp>
        <p:nvSpPr>
          <p:cNvPr id="20" name="Shape 15"/>
          <p:cNvSpPr/>
          <p:nvPr/>
        </p:nvSpPr>
        <p:spPr>
          <a:xfrm>
            <a:off x="201168" y="2898648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01168" y="2898648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29184" y="3081528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312724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5528" y="29900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Data Factory</a:t>
            </a:r>
            <a:endParaRPr lang="en-US" sz="880" dirty="0"/>
          </a:p>
        </p:txBody>
      </p:sp>
      <p:sp>
        <p:nvSpPr>
          <p:cNvPr id="25" name="Shape 19"/>
          <p:cNvSpPr/>
          <p:nvPr/>
        </p:nvSpPr>
        <p:spPr>
          <a:xfrm>
            <a:off x="795528" y="3447288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13816" y="34564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Custom Python Scripts</a:t>
            </a:r>
            <a:endParaRPr lang="en-US" sz="660" dirty="0"/>
          </a:p>
        </p:txBody>
      </p:sp>
      <p:sp>
        <p:nvSpPr>
          <p:cNvPr id="27" name="Shape 21"/>
          <p:cNvSpPr/>
          <p:nvPr/>
        </p:nvSpPr>
        <p:spPr>
          <a:xfrm>
            <a:off x="292608" y="3703320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92608" y="377647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Orchestrates file ingestion pipelines from upload sources into ADLS Gen2. Replaces LangChain pipeline triggers.</a:t>
            </a:r>
            <a:endParaRPr lang="en-US" sz="780" dirty="0"/>
          </a:p>
        </p:txBody>
      </p:sp>
      <p:sp>
        <p:nvSpPr>
          <p:cNvPr id="29" name="Shape 23"/>
          <p:cNvSpPr/>
          <p:nvPr/>
        </p:nvSpPr>
        <p:spPr>
          <a:xfrm>
            <a:off x="201168" y="4700016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01168" y="4700016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9184" y="4882896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" y="4928616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95528" y="47914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Event Grid</a:t>
            </a:r>
            <a:endParaRPr lang="en-US" sz="880" dirty="0"/>
          </a:p>
        </p:txBody>
      </p:sp>
      <p:sp>
        <p:nvSpPr>
          <p:cNvPr id="34" name="Shape 27"/>
          <p:cNvSpPr/>
          <p:nvPr/>
        </p:nvSpPr>
        <p:spPr>
          <a:xfrm>
            <a:off x="795528" y="5248656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13816" y="525780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Amazon EventBridge</a:t>
            </a:r>
            <a:endParaRPr lang="en-US" sz="660" dirty="0"/>
          </a:p>
        </p:txBody>
      </p:sp>
      <p:sp>
        <p:nvSpPr>
          <p:cNvPr id="36" name="Shape 29"/>
          <p:cNvSpPr/>
          <p:nvPr/>
        </p:nvSpPr>
        <p:spPr>
          <a:xfrm>
            <a:off x="292608" y="5504688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92608" y="5577840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Event-driven triggers on new file arrival in ADLS Gen2 to kick off ingestion workflows automatically.</a:t>
            </a:r>
            <a:endParaRPr lang="en-US" sz="780" dirty="0"/>
          </a:p>
        </p:txBody>
      </p:sp>
      <p:sp>
        <p:nvSpPr>
          <p:cNvPr id="38" name="Shape 31"/>
          <p:cNvSpPr/>
          <p:nvPr/>
        </p:nvSpPr>
        <p:spPr>
          <a:xfrm>
            <a:off x="3090672" y="640080"/>
            <a:ext cx="2834640" cy="6016752"/>
          </a:xfrm>
          <a:prstGeom prst="rect">
            <a:avLst/>
          </a:prstGeom>
          <a:solidFill>
            <a:srgbClr val="F4F7FB"/>
          </a:solidFill>
          <a:ln w="12700">
            <a:solidFill>
              <a:srgbClr val="C8DFF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3090672" y="640080"/>
            <a:ext cx="2834640" cy="402336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713232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502152" y="640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3182112" y="1097280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3182112" y="1097280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310128" y="1280160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1325880"/>
            <a:ext cx="310896" cy="31089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3776472" y="1188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Synapse Analytics</a:t>
            </a:r>
            <a:endParaRPr lang="en-US" sz="880" dirty="0"/>
          </a:p>
        </p:txBody>
      </p:sp>
      <p:sp>
        <p:nvSpPr>
          <p:cNvPr id="47" name="Shape 38"/>
          <p:cNvSpPr/>
          <p:nvPr/>
        </p:nvSpPr>
        <p:spPr>
          <a:xfrm>
            <a:off x="3776472" y="1645920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3794760" y="165506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LangChain + Python</a:t>
            </a:r>
            <a:endParaRPr lang="en-US" sz="660" dirty="0"/>
          </a:p>
        </p:txBody>
      </p:sp>
      <p:sp>
        <p:nvSpPr>
          <p:cNvPr id="49" name="Shape 40"/>
          <p:cNvSpPr/>
          <p:nvPr/>
        </p:nvSpPr>
        <p:spPr>
          <a:xfrm>
            <a:off x="3273552" y="1901952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3273552" y="1975104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Spark-based pipeline for data transformation, chunking orchestration and embedding batch processing.</a:t>
            </a:r>
            <a:endParaRPr lang="en-US" sz="780" dirty="0"/>
          </a:p>
        </p:txBody>
      </p:sp>
      <p:sp>
        <p:nvSpPr>
          <p:cNvPr id="51" name="Shape 42"/>
          <p:cNvSpPr/>
          <p:nvPr/>
        </p:nvSpPr>
        <p:spPr>
          <a:xfrm>
            <a:off x="3182112" y="2898648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3182112" y="2898648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3310128" y="3081528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3127248"/>
            <a:ext cx="310896" cy="310896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3776472" y="29900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Document Intelligence</a:t>
            </a:r>
            <a:endParaRPr lang="en-US" sz="880" dirty="0"/>
          </a:p>
        </p:txBody>
      </p:sp>
      <p:sp>
        <p:nvSpPr>
          <p:cNvPr id="56" name="Shape 46"/>
          <p:cNvSpPr/>
          <p:nvPr/>
        </p:nvSpPr>
        <p:spPr>
          <a:xfrm>
            <a:off x="3776472" y="3447288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3794760" y="34564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LangChain Chunking</a:t>
            </a:r>
            <a:endParaRPr lang="en-US" sz="660" dirty="0"/>
          </a:p>
        </p:txBody>
      </p:sp>
      <p:sp>
        <p:nvSpPr>
          <p:cNvPr id="58" name="Shape 48"/>
          <p:cNvSpPr/>
          <p:nvPr/>
        </p:nvSpPr>
        <p:spPr>
          <a:xfrm>
            <a:off x="3273552" y="3703320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3273552" y="377647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AI-powered document parsing, text extraction and intelligent chunking from PDF and Excel files.</a:t>
            </a:r>
            <a:endParaRPr lang="en-US" sz="780" dirty="0"/>
          </a:p>
        </p:txBody>
      </p:sp>
      <p:sp>
        <p:nvSpPr>
          <p:cNvPr id="60" name="Shape 50"/>
          <p:cNvSpPr/>
          <p:nvPr/>
        </p:nvSpPr>
        <p:spPr>
          <a:xfrm>
            <a:off x="3182112" y="4700016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3182112" y="4700016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3310128" y="4882896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5848" y="4928616"/>
            <a:ext cx="310896" cy="310896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3776472" y="47914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AI Search</a:t>
            </a:r>
            <a:endParaRPr lang="en-US" sz="880" dirty="0"/>
          </a:p>
        </p:txBody>
      </p:sp>
      <p:sp>
        <p:nvSpPr>
          <p:cNvPr id="65" name="Shape 54"/>
          <p:cNvSpPr/>
          <p:nvPr/>
        </p:nvSpPr>
        <p:spPr>
          <a:xfrm>
            <a:off x="3776472" y="5248656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3794760" y="525780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Amazon OpenSearch</a:t>
            </a:r>
            <a:endParaRPr lang="en-US" sz="660" dirty="0"/>
          </a:p>
        </p:txBody>
      </p:sp>
      <p:sp>
        <p:nvSpPr>
          <p:cNvPr id="67" name="Shape 56"/>
          <p:cNvSpPr/>
          <p:nvPr/>
        </p:nvSpPr>
        <p:spPr>
          <a:xfrm>
            <a:off x="3273552" y="5504688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68" name="Text 57"/>
          <p:cNvSpPr/>
          <p:nvPr/>
        </p:nvSpPr>
        <p:spPr>
          <a:xfrm>
            <a:off x="3273552" y="5577840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Managed vector search engine with HNSW index for semantic and hybrid similarity search.</a:t>
            </a:r>
            <a:endParaRPr lang="en-US" sz="780" dirty="0"/>
          </a:p>
        </p:txBody>
      </p:sp>
      <p:sp>
        <p:nvSpPr>
          <p:cNvPr id="69" name="Shape 58"/>
          <p:cNvSpPr/>
          <p:nvPr/>
        </p:nvSpPr>
        <p:spPr>
          <a:xfrm>
            <a:off x="6080760" y="640080"/>
            <a:ext cx="2834640" cy="6016752"/>
          </a:xfrm>
          <a:prstGeom prst="rect">
            <a:avLst/>
          </a:prstGeom>
          <a:solidFill>
            <a:srgbClr val="F4F7FB"/>
          </a:solidFill>
          <a:ln w="12700">
            <a:solidFill>
              <a:srgbClr val="C8DFF2"/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6080760" y="640080"/>
            <a:ext cx="2834640" cy="402336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713232"/>
            <a:ext cx="256032" cy="256032"/>
          </a:xfrm>
          <a:prstGeom prst="rect">
            <a:avLst/>
          </a:prstGeom>
        </p:spPr>
      </p:pic>
      <p:sp>
        <p:nvSpPr>
          <p:cNvPr id="72" name="Text 60"/>
          <p:cNvSpPr/>
          <p:nvPr/>
        </p:nvSpPr>
        <p:spPr>
          <a:xfrm>
            <a:off x="6492240" y="640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ML Platform</a:t>
            </a:r>
            <a:endParaRPr lang="en-US" sz="1000" dirty="0"/>
          </a:p>
        </p:txBody>
      </p:sp>
      <p:sp>
        <p:nvSpPr>
          <p:cNvPr id="73" name="Shape 61"/>
          <p:cNvSpPr/>
          <p:nvPr/>
        </p:nvSpPr>
        <p:spPr>
          <a:xfrm>
            <a:off x="6172200" y="1097280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4" name="Shape 62"/>
          <p:cNvSpPr/>
          <p:nvPr/>
        </p:nvSpPr>
        <p:spPr>
          <a:xfrm>
            <a:off x="6172200" y="1097280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5" name="Shape 63"/>
          <p:cNvSpPr/>
          <p:nvPr/>
        </p:nvSpPr>
        <p:spPr>
          <a:xfrm>
            <a:off x="6300216" y="1280160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7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5936" y="1325880"/>
            <a:ext cx="310896" cy="310896"/>
          </a:xfrm>
          <a:prstGeom prst="rect">
            <a:avLst/>
          </a:prstGeom>
        </p:spPr>
      </p:pic>
      <p:sp>
        <p:nvSpPr>
          <p:cNvPr id="77" name="Text 64"/>
          <p:cNvSpPr/>
          <p:nvPr/>
        </p:nvSpPr>
        <p:spPr>
          <a:xfrm>
            <a:off x="6766560" y="1188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OpenAI – Ada Embeddings</a:t>
            </a:r>
            <a:endParaRPr lang="en-US" sz="880" dirty="0"/>
          </a:p>
        </p:txBody>
      </p:sp>
      <p:sp>
        <p:nvSpPr>
          <p:cNvPr id="78" name="Shape 65"/>
          <p:cNvSpPr/>
          <p:nvPr/>
        </p:nvSpPr>
        <p:spPr>
          <a:xfrm>
            <a:off x="6766560" y="1645920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79" name="Text 66"/>
          <p:cNvSpPr/>
          <p:nvPr/>
        </p:nvSpPr>
        <p:spPr>
          <a:xfrm>
            <a:off x="6784848" y="165506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Bedrock Embeddings</a:t>
            </a:r>
            <a:endParaRPr lang="en-US" sz="660" dirty="0"/>
          </a:p>
        </p:txBody>
      </p:sp>
      <p:sp>
        <p:nvSpPr>
          <p:cNvPr id="80" name="Shape 67"/>
          <p:cNvSpPr/>
          <p:nvPr/>
        </p:nvSpPr>
        <p:spPr>
          <a:xfrm>
            <a:off x="6263640" y="1901952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81" name="Text 68"/>
          <p:cNvSpPr/>
          <p:nvPr/>
        </p:nvSpPr>
        <p:spPr>
          <a:xfrm>
            <a:off x="6263640" y="1975104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Generates dense vector embeddings (text-embedding-ada-002) for document chunks stored in AI Search.</a:t>
            </a:r>
            <a:endParaRPr lang="en-US" sz="780" dirty="0"/>
          </a:p>
        </p:txBody>
      </p:sp>
      <p:sp>
        <p:nvSpPr>
          <p:cNvPr id="82" name="Shape 69"/>
          <p:cNvSpPr/>
          <p:nvPr/>
        </p:nvSpPr>
        <p:spPr>
          <a:xfrm>
            <a:off x="6172200" y="2898648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3" name="Shape 70"/>
          <p:cNvSpPr/>
          <p:nvPr/>
        </p:nvSpPr>
        <p:spPr>
          <a:xfrm>
            <a:off x="6172200" y="2898648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4" name="Shape 71"/>
          <p:cNvSpPr/>
          <p:nvPr/>
        </p:nvSpPr>
        <p:spPr>
          <a:xfrm>
            <a:off x="6300216" y="3081528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8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3127248"/>
            <a:ext cx="310896" cy="310896"/>
          </a:xfrm>
          <a:prstGeom prst="rect">
            <a:avLst/>
          </a:prstGeom>
        </p:spPr>
      </p:pic>
      <p:sp>
        <p:nvSpPr>
          <p:cNvPr id="86" name="Text 72"/>
          <p:cNvSpPr/>
          <p:nvPr/>
        </p:nvSpPr>
        <p:spPr>
          <a:xfrm>
            <a:off x="6766560" y="29900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OpenAI – GPT-4o</a:t>
            </a:r>
            <a:endParaRPr lang="en-US" sz="880" dirty="0"/>
          </a:p>
        </p:txBody>
      </p:sp>
      <p:sp>
        <p:nvSpPr>
          <p:cNvPr id="87" name="Shape 73"/>
          <p:cNvSpPr/>
          <p:nvPr/>
        </p:nvSpPr>
        <p:spPr>
          <a:xfrm>
            <a:off x="6766560" y="3447288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88" name="Text 74"/>
          <p:cNvSpPr/>
          <p:nvPr/>
        </p:nvSpPr>
        <p:spPr>
          <a:xfrm>
            <a:off x="6784848" y="34564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Bedrock Text Gen</a:t>
            </a:r>
            <a:endParaRPr lang="en-US" sz="660" dirty="0"/>
          </a:p>
        </p:txBody>
      </p:sp>
      <p:sp>
        <p:nvSpPr>
          <p:cNvPr id="89" name="Shape 75"/>
          <p:cNvSpPr/>
          <p:nvPr/>
        </p:nvSpPr>
        <p:spPr>
          <a:xfrm>
            <a:off x="6263640" y="3703320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90" name="Text 76"/>
          <p:cNvSpPr/>
          <p:nvPr/>
        </p:nvSpPr>
        <p:spPr>
          <a:xfrm>
            <a:off x="6263640" y="377647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Large language model for RAG-based answer generation from retrieved context and user queries.</a:t>
            </a:r>
            <a:endParaRPr lang="en-US" sz="780" dirty="0"/>
          </a:p>
        </p:txBody>
      </p:sp>
      <p:sp>
        <p:nvSpPr>
          <p:cNvPr id="91" name="Shape 77"/>
          <p:cNvSpPr/>
          <p:nvPr/>
        </p:nvSpPr>
        <p:spPr>
          <a:xfrm>
            <a:off x="6172200" y="4700016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2" name="Shape 78"/>
          <p:cNvSpPr/>
          <p:nvPr/>
        </p:nvSpPr>
        <p:spPr>
          <a:xfrm>
            <a:off x="6172200" y="4700016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3" name="Shape 79"/>
          <p:cNvSpPr/>
          <p:nvPr/>
        </p:nvSpPr>
        <p:spPr>
          <a:xfrm>
            <a:off x="6300216" y="4882896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9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5936" y="4928616"/>
            <a:ext cx="310896" cy="310896"/>
          </a:xfrm>
          <a:prstGeom prst="rect">
            <a:avLst/>
          </a:prstGeom>
        </p:spPr>
      </p:pic>
      <p:sp>
        <p:nvSpPr>
          <p:cNvPr id="95" name="Text 80"/>
          <p:cNvSpPr/>
          <p:nvPr/>
        </p:nvSpPr>
        <p:spPr>
          <a:xfrm>
            <a:off x="6766560" y="47914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AI Foundry / Prompt Flow</a:t>
            </a:r>
            <a:endParaRPr lang="en-US" sz="880" dirty="0"/>
          </a:p>
        </p:txBody>
      </p:sp>
      <p:sp>
        <p:nvSpPr>
          <p:cNvPr id="96" name="Shape 81"/>
          <p:cNvSpPr/>
          <p:nvPr/>
        </p:nvSpPr>
        <p:spPr>
          <a:xfrm>
            <a:off x="6766560" y="5248656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97" name="Text 82"/>
          <p:cNvSpPr/>
          <p:nvPr/>
        </p:nvSpPr>
        <p:spPr>
          <a:xfrm>
            <a:off x="6784848" y="525780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Bedrock Orchestration</a:t>
            </a:r>
            <a:endParaRPr lang="en-US" sz="660" dirty="0"/>
          </a:p>
        </p:txBody>
      </p:sp>
      <p:sp>
        <p:nvSpPr>
          <p:cNvPr id="98" name="Shape 83"/>
          <p:cNvSpPr/>
          <p:nvPr/>
        </p:nvSpPr>
        <p:spPr>
          <a:xfrm>
            <a:off x="6263640" y="5504688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99" name="Text 84"/>
          <p:cNvSpPr/>
          <p:nvPr/>
        </p:nvSpPr>
        <p:spPr>
          <a:xfrm>
            <a:off x="6263640" y="5577840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Visual prompt engineering, LLM chaining and evaluation platform for production AI workflows.</a:t>
            </a:r>
            <a:endParaRPr lang="en-US" sz="780" dirty="0"/>
          </a:p>
        </p:txBody>
      </p:sp>
      <p:sp>
        <p:nvSpPr>
          <p:cNvPr id="100" name="Shape 85"/>
          <p:cNvSpPr/>
          <p:nvPr/>
        </p:nvSpPr>
        <p:spPr>
          <a:xfrm>
            <a:off x="9070848" y="640080"/>
            <a:ext cx="2834640" cy="6016752"/>
          </a:xfrm>
          <a:prstGeom prst="rect">
            <a:avLst/>
          </a:prstGeom>
          <a:solidFill>
            <a:srgbClr val="F4F7FB"/>
          </a:solidFill>
          <a:ln w="12700">
            <a:solidFill>
              <a:srgbClr val="C8DFF2"/>
            </a:solidFill>
            <a:prstDash val="solid"/>
          </a:ln>
        </p:spPr>
      </p:sp>
      <p:sp>
        <p:nvSpPr>
          <p:cNvPr id="101" name="Shape 86"/>
          <p:cNvSpPr/>
          <p:nvPr/>
        </p:nvSpPr>
        <p:spPr>
          <a:xfrm>
            <a:off x="9070848" y="640080"/>
            <a:ext cx="2834640" cy="402336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pic>
        <p:nvPicPr>
          <p:cNvPr id="10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62288" y="713232"/>
            <a:ext cx="256032" cy="256032"/>
          </a:xfrm>
          <a:prstGeom prst="rect">
            <a:avLst/>
          </a:prstGeom>
        </p:spPr>
      </p:pic>
      <p:sp>
        <p:nvSpPr>
          <p:cNvPr id="103" name="Text 87"/>
          <p:cNvSpPr/>
          <p:nvPr/>
        </p:nvSpPr>
        <p:spPr>
          <a:xfrm>
            <a:off x="9482328" y="640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Deployment &amp; Security</a:t>
            </a:r>
            <a:endParaRPr lang="en-US" sz="1000" dirty="0"/>
          </a:p>
        </p:txBody>
      </p:sp>
      <p:sp>
        <p:nvSpPr>
          <p:cNvPr id="104" name="Shape 88"/>
          <p:cNvSpPr/>
          <p:nvPr/>
        </p:nvSpPr>
        <p:spPr>
          <a:xfrm>
            <a:off x="9162288" y="1097280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5" name="Shape 89"/>
          <p:cNvSpPr/>
          <p:nvPr/>
        </p:nvSpPr>
        <p:spPr>
          <a:xfrm>
            <a:off x="9162288" y="1097280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6" name="Shape 90"/>
          <p:cNvSpPr/>
          <p:nvPr/>
        </p:nvSpPr>
        <p:spPr>
          <a:xfrm>
            <a:off x="9290304" y="1280160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6024" y="1325880"/>
            <a:ext cx="310896" cy="310896"/>
          </a:xfrm>
          <a:prstGeom prst="rect">
            <a:avLst/>
          </a:prstGeom>
        </p:spPr>
      </p:pic>
      <p:sp>
        <p:nvSpPr>
          <p:cNvPr id="108" name="Text 91"/>
          <p:cNvSpPr/>
          <p:nvPr/>
        </p:nvSpPr>
        <p:spPr>
          <a:xfrm>
            <a:off x="9756648" y="11887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App Service</a:t>
            </a:r>
            <a:endParaRPr lang="en-US" sz="880" dirty="0"/>
          </a:p>
        </p:txBody>
      </p:sp>
      <p:sp>
        <p:nvSpPr>
          <p:cNvPr id="109" name="Shape 92"/>
          <p:cNvSpPr/>
          <p:nvPr/>
        </p:nvSpPr>
        <p:spPr>
          <a:xfrm>
            <a:off x="9756648" y="1645920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110" name="Text 93"/>
          <p:cNvSpPr/>
          <p:nvPr/>
        </p:nvSpPr>
        <p:spPr>
          <a:xfrm>
            <a:off x="9774936" y="165506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EC2 (Streamlit app)</a:t>
            </a:r>
            <a:endParaRPr lang="en-US" sz="660" dirty="0"/>
          </a:p>
        </p:txBody>
      </p:sp>
      <p:sp>
        <p:nvSpPr>
          <p:cNvPr id="111" name="Shape 94"/>
          <p:cNvSpPr/>
          <p:nvPr/>
        </p:nvSpPr>
        <p:spPr>
          <a:xfrm>
            <a:off x="9253728" y="1901952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112" name="Text 95"/>
          <p:cNvSpPr/>
          <p:nvPr/>
        </p:nvSpPr>
        <p:spPr>
          <a:xfrm>
            <a:off x="9253728" y="1975104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Hosts the Streamlit front-end application with auto-scaling and managed TLS certificates.</a:t>
            </a:r>
            <a:endParaRPr lang="en-US" sz="780" dirty="0"/>
          </a:p>
        </p:txBody>
      </p:sp>
      <p:sp>
        <p:nvSpPr>
          <p:cNvPr id="113" name="Shape 96"/>
          <p:cNvSpPr/>
          <p:nvPr/>
        </p:nvSpPr>
        <p:spPr>
          <a:xfrm>
            <a:off x="9162288" y="2898648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4" name="Shape 97"/>
          <p:cNvSpPr/>
          <p:nvPr/>
        </p:nvSpPr>
        <p:spPr>
          <a:xfrm>
            <a:off x="9162288" y="2898648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5" name="Shape 98"/>
          <p:cNvSpPr/>
          <p:nvPr/>
        </p:nvSpPr>
        <p:spPr>
          <a:xfrm>
            <a:off x="9290304" y="3081528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11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6024" y="3127248"/>
            <a:ext cx="310896" cy="310896"/>
          </a:xfrm>
          <a:prstGeom prst="rect">
            <a:avLst/>
          </a:prstGeom>
        </p:spPr>
      </p:pic>
      <p:sp>
        <p:nvSpPr>
          <p:cNvPr id="117" name="Text 99"/>
          <p:cNvSpPr/>
          <p:nvPr/>
        </p:nvSpPr>
        <p:spPr>
          <a:xfrm>
            <a:off x="9756648" y="29900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AD + VNet + Private Endpoints</a:t>
            </a:r>
            <a:endParaRPr lang="en-US" sz="880" dirty="0"/>
          </a:p>
        </p:txBody>
      </p:sp>
      <p:sp>
        <p:nvSpPr>
          <p:cNvPr id="118" name="Shape 100"/>
          <p:cNvSpPr/>
          <p:nvPr/>
        </p:nvSpPr>
        <p:spPr>
          <a:xfrm>
            <a:off x="9756648" y="3447288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119" name="Text 101"/>
          <p:cNvSpPr/>
          <p:nvPr/>
        </p:nvSpPr>
        <p:spPr>
          <a:xfrm>
            <a:off x="9774936" y="34564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IAM / VPC</a:t>
            </a:r>
            <a:endParaRPr lang="en-US" sz="660" dirty="0"/>
          </a:p>
        </p:txBody>
      </p:sp>
      <p:sp>
        <p:nvSpPr>
          <p:cNvPr id="120" name="Shape 102"/>
          <p:cNvSpPr/>
          <p:nvPr/>
        </p:nvSpPr>
        <p:spPr>
          <a:xfrm>
            <a:off x="9253728" y="3703320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121" name="Text 103"/>
          <p:cNvSpPr/>
          <p:nvPr/>
        </p:nvSpPr>
        <p:spPr>
          <a:xfrm>
            <a:off x="9253728" y="377647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Unified identity, RBAC access control and private network isolation for all services.</a:t>
            </a:r>
            <a:endParaRPr lang="en-US" sz="780" dirty="0"/>
          </a:p>
        </p:txBody>
      </p:sp>
      <p:sp>
        <p:nvSpPr>
          <p:cNvPr id="122" name="Shape 104"/>
          <p:cNvSpPr/>
          <p:nvPr/>
        </p:nvSpPr>
        <p:spPr>
          <a:xfrm>
            <a:off x="9162288" y="4700016"/>
            <a:ext cx="2651760" cy="1709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F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3" name="Shape 105"/>
          <p:cNvSpPr/>
          <p:nvPr/>
        </p:nvSpPr>
        <p:spPr>
          <a:xfrm>
            <a:off x="9162288" y="4700016"/>
            <a:ext cx="64008" cy="1709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4" name="Shape 106"/>
          <p:cNvSpPr/>
          <p:nvPr/>
        </p:nvSpPr>
        <p:spPr>
          <a:xfrm>
            <a:off x="9290304" y="4882896"/>
            <a:ext cx="402336" cy="402336"/>
          </a:xfrm>
          <a:prstGeom prst="ellipse">
            <a:avLst/>
          </a:prstGeom>
          <a:solidFill>
            <a:srgbClr val="EBF4FC"/>
          </a:solidFill>
          <a:ln w="8890">
            <a:solidFill>
              <a:srgbClr val="2B88D8"/>
            </a:solidFill>
            <a:prstDash val="solid"/>
          </a:ln>
        </p:spPr>
      </p:sp>
      <p:pic>
        <p:nvPicPr>
          <p:cNvPr id="12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6024" y="4928616"/>
            <a:ext cx="310896" cy="310896"/>
          </a:xfrm>
          <a:prstGeom prst="rect">
            <a:avLst/>
          </a:prstGeom>
        </p:spPr>
      </p:pic>
      <p:sp>
        <p:nvSpPr>
          <p:cNvPr id="126" name="Text 107"/>
          <p:cNvSpPr/>
          <p:nvPr/>
        </p:nvSpPr>
        <p:spPr>
          <a:xfrm>
            <a:off x="9756648" y="47914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D3D"/>
                </a:solidFill>
              </a:rPr>
              <a:t>Azure Monitor + Application Insights</a:t>
            </a:r>
            <a:endParaRPr lang="en-US" sz="880" dirty="0"/>
          </a:p>
        </p:txBody>
      </p:sp>
      <p:sp>
        <p:nvSpPr>
          <p:cNvPr id="127" name="Shape 108"/>
          <p:cNvSpPr/>
          <p:nvPr/>
        </p:nvSpPr>
        <p:spPr>
          <a:xfrm>
            <a:off x="9756648" y="5248656"/>
            <a:ext cx="1947672" cy="201168"/>
          </a:xfrm>
          <a:prstGeom prst="rect">
            <a:avLst/>
          </a:prstGeom>
          <a:solidFill>
            <a:srgbClr val="EBF4FC"/>
          </a:solidFill>
          <a:ln w="6350">
            <a:solidFill>
              <a:srgbClr val="C8DFF2"/>
            </a:solidFill>
            <a:prstDash val="solid"/>
          </a:ln>
        </p:spPr>
      </p:sp>
      <p:sp>
        <p:nvSpPr>
          <p:cNvPr id="128" name="Text 109"/>
          <p:cNvSpPr/>
          <p:nvPr/>
        </p:nvSpPr>
        <p:spPr>
          <a:xfrm>
            <a:off x="9774936" y="525780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i="1" dirty="0">
                <a:solidFill>
                  <a:srgbClr val="2B88D8"/>
                </a:solidFill>
              </a:rPr>
              <a:t>≡  CloudWatch / Logs</a:t>
            </a:r>
            <a:endParaRPr lang="en-US" sz="660" dirty="0"/>
          </a:p>
        </p:txBody>
      </p:sp>
      <p:sp>
        <p:nvSpPr>
          <p:cNvPr id="129" name="Shape 110"/>
          <p:cNvSpPr/>
          <p:nvPr/>
        </p:nvSpPr>
        <p:spPr>
          <a:xfrm>
            <a:off x="9253728" y="5504688"/>
            <a:ext cx="2468880" cy="0"/>
          </a:xfrm>
          <a:prstGeom prst="line">
            <a:avLst/>
          </a:prstGeom>
          <a:noFill/>
          <a:ln w="6350">
            <a:solidFill>
              <a:srgbClr val="C8DFF2"/>
            </a:solidFill>
            <a:prstDash val="solid"/>
          </a:ln>
        </p:spPr>
      </p:sp>
      <p:sp>
        <p:nvSpPr>
          <p:cNvPr id="130" name="Text 111"/>
          <p:cNvSpPr/>
          <p:nvPr/>
        </p:nvSpPr>
        <p:spPr>
          <a:xfrm>
            <a:off x="9253728" y="5577840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7A9A"/>
                </a:solidFill>
              </a:rPr>
              <a:t>Full observability stack: metrics, distributed tracing, log analytics and alerting dashboards.</a:t>
            </a:r>
            <a:endParaRPr lang="en-US" sz="780" dirty="0"/>
          </a:p>
        </p:txBody>
      </p:sp>
      <p:sp>
        <p:nvSpPr>
          <p:cNvPr id="131" name="Shape 11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32" name="Text 113"/>
          <p:cNvSpPr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EC8EE"/>
                </a:solidFill>
              </a:rPr>
              <a:t>All services deployable inside Azure Virtual Network with Private Endpoints  ·  ADLS Gen2 replaces AWS S3 as the primary data lake  ·  ADF handles file ingestion into the lake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2026-03-05T08:07:35Z</dcterms:created>
  <dcterms:modified xsi:type="dcterms:W3CDTF">2026-03-05T08:07:35Z</dcterms:modified>
</cp:coreProperties>
</file>