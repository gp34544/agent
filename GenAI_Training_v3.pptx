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00C8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858000" y="274320"/>
            <a:ext cx="2011680" cy="201168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498080" y="914400"/>
            <a:ext cx="1371600" cy="1371600"/>
          </a:xfrm>
          <a:prstGeom prst="rect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400800" y="1645920"/>
            <a:ext cx="914400" cy="914400"/>
          </a:xfrm>
          <a:prstGeom prst="rect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4389120"/>
            <a:ext cx="73152" cy="73152"/>
          </a:xfrm>
          <a:prstGeom prst="ellipse">
            <a:avLst/>
          </a:prstGeom>
          <a:solidFill>
            <a:srgbClr val="00C8FF">
              <a:alpha val="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4389120"/>
            <a:ext cx="73152" cy="73152"/>
          </a:xfrm>
          <a:prstGeom prst="ellipse">
            <a:avLst/>
          </a:prstGeom>
          <a:solidFill>
            <a:srgbClr val="00C8FF">
              <a:alpha val="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4389120"/>
            <a:ext cx="73152" cy="73152"/>
          </a:xfrm>
          <a:prstGeom prst="ellipse">
            <a:avLst/>
          </a:prstGeom>
          <a:solidFill>
            <a:srgbClr val="00C8FF">
              <a:alpha val="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7088" y="4389120"/>
            <a:ext cx="73152" cy="73152"/>
          </a:xfrm>
          <a:prstGeom prst="ellipse">
            <a:avLst/>
          </a:prstGeom>
          <a:solidFill>
            <a:srgbClr val="00C8FF">
              <a:alpha val="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4389120"/>
            <a:ext cx="73152" cy="73152"/>
          </a:xfrm>
          <a:prstGeom prst="ellipse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4389120"/>
            <a:ext cx="73152" cy="73152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4389120"/>
            <a:ext cx="73152" cy="73152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4389120"/>
            <a:ext cx="73152" cy="73152"/>
          </a:xfrm>
          <a:prstGeom prst="ellipse">
            <a:avLst/>
          </a:prstGeom>
          <a:solidFill>
            <a:srgbClr val="00C8FF">
              <a:alpha val="-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4389120"/>
            <a:ext cx="73152" cy="73152"/>
          </a:xfrm>
          <a:prstGeom prst="ellipse">
            <a:avLst/>
          </a:prstGeom>
          <a:solidFill>
            <a:srgbClr val="00C8FF">
              <a:alpha val="-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4389120"/>
            <a:ext cx="73152" cy="73152"/>
          </a:xfrm>
          <a:prstGeom prst="ellipse">
            <a:avLst/>
          </a:prstGeom>
          <a:solidFill>
            <a:srgbClr val="00C8FF">
              <a:alpha val="-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4389120"/>
            <a:ext cx="73152" cy="73152"/>
          </a:xfrm>
          <a:prstGeom prst="ellipse">
            <a:avLst/>
          </a:prstGeom>
          <a:solidFill>
            <a:srgbClr val="00C8FF">
              <a:alpha val="-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4389120"/>
            <a:ext cx="73152" cy="73152"/>
          </a:xfrm>
          <a:prstGeom prst="ellipse">
            <a:avLst/>
          </a:prstGeom>
          <a:solidFill>
            <a:srgbClr val="00C8FF">
              <a:alpha val="-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4389120"/>
            <a:ext cx="73152" cy="73152"/>
          </a:xfrm>
          <a:prstGeom prst="ellipse">
            <a:avLst/>
          </a:prstGeom>
          <a:solidFill>
            <a:srgbClr val="00C8FF">
              <a:alpha val="-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4389120"/>
            <a:ext cx="73152" cy="73152"/>
          </a:xfrm>
          <a:prstGeom prst="ellipse">
            <a:avLst/>
          </a:prstGeom>
          <a:solidFill>
            <a:srgbClr val="00C8FF">
              <a:alpha val="-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4389120"/>
            <a:ext cx="73152" cy="73152"/>
          </a:xfrm>
          <a:prstGeom prst="ellipse">
            <a:avLst/>
          </a:prstGeom>
          <a:solidFill>
            <a:srgbClr val="00C8FF">
              <a:alpha val="-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4389120"/>
            <a:ext cx="73152" cy="73152"/>
          </a:xfrm>
          <a:prstGeom prst="ellipse">
            <a:avLst/>
          </a:prstGeom>
          <a:solidFill>
            <a:srgbClr val="00C8FF">
              <a:alpha val="-6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4389120"/>
            <a:ext cx="73152" cy="73152"/>
          </a:xfrm>
          <a:prstGeom prst="ellipse">
            <a:avLst/>
          </a:prstGeom>
          <a:solidFill>
            <a:srgbClr val="00C8FF">
              <a:alpha val="-7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280160"/>
            <a:ext cx="2926080" cy="320040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SESSION —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2286000"/>
            <a:ext cx="77724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58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the Power of AI for Everyone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Your Name  |  Duration: 3 Hours  |  Level: Beginner–Intermediate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history &amp; how it 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diffusion models, transformers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04872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&amp; live demos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04872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 &amp; Platforms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07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Copilot, Midjourney &amp;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75304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75304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Ethics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078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hallucinations &amp; best practices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75304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75304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666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078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exercises &amp;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refers to artificial intelligence systems that can create new content — text, images, code, audio, and video — by learning patterns from vast amounts of training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8600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billions of examples to understand language, images, and code structures.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2743200" cy="731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original, human-like outputs from simple text prompts and instructions.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28600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&amp; Improves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using feedback to align outputs with human intent and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AI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7498080" cy="54864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datasets of text, images &amp; 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patterns &amp; relationships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aligns outputs with human preferences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natural language instructions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2240280"/>
            <a:ext cx="731520" cy="731520"/>
          </a:xfrm>
          <a:prstGeom prst="ellipse">
            <a:avLst/>
          </a:prstGeom>
          <a:solidFill>
            <a:srgbClr val="00C8FF">
              <a:alpha val="80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coherent content is generated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&amp; Architectures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7373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GPT, Llama, Gemini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trained on massive text corpora. Power ChatGPT, Copilot and more.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1737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98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 Diffusion, DALL·E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reverse noise to generate photorealistic images from text prompts.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64008" cy="1737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64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Adversarial Networks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compete — a generator creates content, a discriminator critiques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64008" cy="1737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64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GPT-4o, Gemini Ultra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generate across text, images, audio &amp; video in a single model.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FF6B6B">
              <a:alpha val="3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analysis · Clinical note generation · Drug discovery · Patient Q&amp;A chatbots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· Report generation · Risk analysis · Personalized financial advice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06D6A0">
              <a:alpha val="3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tutoring · Auto-grading · Content generation · Personalized learning paths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2743200" cy="347472"/>
          </a:xfrm>
          <a:prstGeom prst="rect">
            <a:avLst/>
          </a:prstGeom>
          <a:solidFill>
            <a:srgbClr val="00C8FF">
              <a:alpha val="3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· Bug fixing · Documentation · Architecture design assistance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63240"/>
            <a:ext cx="2743200" cy="347472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writing · Ad creative · SEO content · Email personalization campaigns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63240"/>
            <a:ext cx="2743200" cy="347472"/>
          </a:xfrm>
          <a:prstGeom prst="rect">
            <a:avLst/>
          </a:prstGeom>
          <a:solidFill>
            <a:srgbClr val="FF8C42">
              <a:alpha val="3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· Case research · Summary drafting · Compliance checking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Generative AI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10A3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07592"/>
            <a:ext cx="292608" cy="292608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152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Chat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writing, analysis, coding &amp; brainstorming.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CC78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1307592"/>
            <a:ext cx="292608" cy="292608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152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75504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11887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AI known for safety, nuanced reasoning &amp; document analysis.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901952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007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12264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/ Productivity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19933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in Microsoft 365 &amp; GitHub for code and document generation.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901952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112264"/>
            <a:ext cx="292608" cy="29260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75504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19933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 integrated into Search, Docs &amp; Android.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706624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7B2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916936"/>
            <a:ext cx="292608" cy="29260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27980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AI art generation via Discord prompts.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06624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2916936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75504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29400" y="27980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AI with precise prompt-following &amp; creative styles.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511296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8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721608"/>
            <a:ext cx="292608" cy="29260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94560" y="36027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editing and generation for creatives and filmmakers.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511296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D1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3721608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75504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75504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36027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cinematic video from text prompts up to 60 seconds.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315968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4526280"/>
            <a:ext cx="292608" cy="2926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" y="4370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/ Research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94560" y="44074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search that cites real-time web sources accurately.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315968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6E40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4526280"/>
            <a:ext cx="292608" cy="29260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75504" y="4370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75504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29400" y="44074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 in VS Code that autocompletes entire functions.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65760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of crafting clear, precise instructions that guide AI models to produce accurate, useful, and relevant outputs.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 specific and 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Provide context &amp;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role / persona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output format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and refine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system-level instructions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4389120" cy="347472"/>
          </a:xfrm>
          <a:prstGeom prst="rect">
            <a:avLst/>
          </a:prstGeom>
          <a:solidFill>
            <a:srgbClr val="1A1A2E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PROMPT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536192"/>
            <a:ext cx="4389120" cy="3310128"/>
          </a:xfrm>
          <a:prstGeom prst="rect">
            <a:avLst/>
          </a:prstGeom>
          <a:solidFill>
            <a:srgbClr val="0A0A18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276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product manager at a SaaS company.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12140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36829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61518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are launching a new AI feature for HR teams.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8620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31089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3558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3-paragraph announcement email for our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60273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newsletter. Keep it under 200 words.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84962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09651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43434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line, greeting, body, call-to-action.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Ethics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false information confidently. Always verify critical facts from authoritative sources.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3824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0098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2219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00984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reflect biases in training data. Audit outputs for discriminatory patterns in hiring, lending, healthcare.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9984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sharing personal, confidential, or proprietary data in public AI tools. Check your org's AI usage policy.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&amp; 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may raise IP questions. Understand legal frameworks before publishing AI outputs.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63824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0098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◎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22192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00984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 AI assistance in work products when required. Maintain human oversight of key decisions.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0877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9984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08776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AI models consumes significant energy. Consider efficiency and sustainable AI practices.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217920" y="457200"/>
            <a:ext cx="2560320" cy="2560320"/>
          </a:xfrm>
          <a:prstGeom prst="rect">
            <a:avLst/>
          </a:prstGeom>
          <a:solidFill>
            <a:srgbClr val="7B2FFF">
              <a:alpha val="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132320" y="1371600"/>
            <a:ext cx="1828800" cy="1828800"/>
          </a:xfrm>
          <a:prstGeom prst="rect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400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AI!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5303520" cy="274320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NEXT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ChatGPT / Claude today — try prompts for your daily tasks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hands-on lab exercises in your workbook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3776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internal AI Community of Practice 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advanced session: AI Agents &amp; Automation (next month)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148840"/>
            <a:ext cx="2880360" cy="2743200"/>
          </a:xfrm>
          <a:prstGeom prst="rect">
            <a:avLst/>
          </a:prstGeom>
          <a:solidFill>
            <a:srgbClr val="0C1632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promptingguide.ai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1455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learnprompting.org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547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huggingface.co/learn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950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openai.com/research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anthropic.com/research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73152" cy="73152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892040"/>
            <a:ext cx="73152" cy="73152"/>
          </a:xfrm>
          <a:prstGeom prst="ellipse">
            <a:avLst/>
          </a:prstGeom>
          <a:solidFill>
            <a:srgbClr val="00C8FF">
              <a:alpha val="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4892040"/>
            <a:ext cx="73152" cy="73152"/>
          </a:xfrm>
          <a:prstGeom prst="ellipse">
            <a:avLst/>
          </a:prstGeom>
          <a:solidFill>
            <a:srgbClr val="00C8FF">
              <a:alpha val="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4892040"/>
            <a:ext cx="73152" cy="73152"/>
          </a:xfrm>
          <a:prstGeom prst="ellipse">
            <a:avLst/>
          </a:prstGeom>
          <a:solidFill>
            <a:srgbClr val="00C8FF">
              <a:alpha val="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4892040"/>
            <a:ext cx="73152" cy="73152"/>
          </a:xfrm>
          <a:prstGeom prst="ellipse">
            <a:avLst/>
          </a:prstGeom>
          <a:solidFill>
            <a:srgbClr val="00C8FF">
              <a:alpha val="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4892040"/>
            <a:ext cx="73152" cy="73152"/>
          </a:xfrm>
          <a:prstGeom prst="ellipse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4892040"/>
            <a:ext cx="73152" cy="73152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4892040"/>
            <a:ext cx="73152" cy="73152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4892040"/>
            <a:ext cx="73152" cy="73152"/>
          </a:xfrm>
          <a:prstGeom prst="ellipse">
            <a:avLst/>
          </a:prstGeom>
          <a:solidFill>
            <a:srgbClr val="00C8FF">
              <a:alpha val="-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4892040"/>
            <a:ext cx="73152" cy="73152"/>
          </a:xfrm>
          <a:prstGeom prst="ellipse">
            <a:avLst/>
          </a:prstGeom>
          <a:solidFill>
            <a:srgbClr val="00C8FF">
              <a:alpha val="-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4892040"/>
            <a:ext cx="73152" cy="73152"/>
          </a:xfrm>
          <a:prstGeom prst="ellipse">
            <a:avLst/>
          </a:prstGeom>
          <a:solidFill>
            <a:srgbClr val="00C8FF">
              <a:alpha val="-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892040"/>
            <a:ext cx="73152" cy="73152"/>
          </a:xfrm>
          <a:prstGeom prst="ellipse">
            <a:avLst/>
          </a:prstGeom>
          <a:solidFill>
            <a:srgbClr val="00C8FF">
              <a:alpha val="-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4892040"/>
            <a:ext cx="73152" cy="73152"/>
          </a:xfrm>
          <a:prstGeom prst="ellipse">
            <a:avLst/>
          </a:prstGeom>
          <a:solidFill>
            <a:srgbClr val="00C8FF">
              <a:alpha val="-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4892040"/>
            <a:ext cx="73152" cy="73152"/>
          </a:xfrm>
          <a:prstGeom prst="ellipse">
            <a:avLst/>
          </a:prstGeom>
          <a:solidFill>
            <a:srgbClr val="00C8FF">
              <a:alpha val="-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892040"/>
            <a:ext cx="73152" cy="73152"/>
          </a:xfrm>
          <a:prstGeom prst="ellipse">
            <a:avLst/>
          </a:prstGeom>
          <a:solidFill>
            <a:srgbClr val="00C8FF">
              <a:alpha val="-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4892040"/>
            <a:ext cx="73152" cy="73152"/>
          </a:xfrm>
          <a:prstGeom prst="ellipse">
            <a:avLst/>
          </a:prstGeom>
          <a:solidFill>
            <a:srgbClr val="00C8FF">
              <a:alpha val="-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 · Questions welcome · Let's build the future together!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 —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AI: A Complete Framework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0"/>
            <a:ext cx="3840480" cy="37947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389120" y="1097280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097280"/>
            <a:ext cx="64008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152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Foundation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463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 · NLP · Reasoning &amp; Problem Solving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9120" y="1901952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5BA8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901952"/>
            <a:ext cx="64008" cy="731520"/>
          </a:xfrm>
          <a:prstGeom prst="rect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9568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0" y="22677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Neural Networks · CNNs · Transformers · RNNs · Deep Belief Networks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89120" y="2706624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2706624"/>
            <a:ext cx="64008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761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RAG · Tool Use &amp; Function Calling · Multimodal Generation · Hallucination Mitigation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89120" y="3511296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E05C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3511296"/>
            <a:ext cx="64008" cy="7315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566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38770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Tasks · Goal Decomposition · Memory Systems · Human-in-the-Loop · Tool Orchestration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89120" y="4315968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4315968"/>
            <a:ext cx="64008" cy="7315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3708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(Full Automation)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0" y="46817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Task Scheduling · Governance &amp; Guardrails · Observability &amp; Self-Improvement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AI: From Classical to Agentic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051560"/>
            <a:ext cx="3749040" cy="385876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078992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6B9A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78992"/>
            <a:ext cx="64008" cy="594360"/>
          </a:xfrm>
          <a:prstGeom prst="rect">
            <a:avLst/>
          </a:prstGeom>
          <a:solidFill>
            <a:srgbClr val="6B9AC4"/>
          </a:solidFill>
          <a:ln w="12700">
            <a:solidFill>
              <a:srgbClr val="6B9A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52544" y="1197864"/>
            <a:ext cx="347472" cy="347472"/>
          </a:xfrm>
          <a:prstGeom prst="ellipse">
            <a:avLst/>
          </a:prstGeom>
          <a:solidFill>
            <a:srgbClr val="6B9AC4">
              <a:alpha val="45000"/>
            </a:srgbClr>
          </a:solidFill>
          <a:ln w="10160">
            <a:solidFill>
              <a:srgbClr val="6B9A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52544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1155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13716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  ·  Symbolic AI · Expert Systems · Knowledge Representation · Logic &amp; Reasoning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" y="1737360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7CBF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737360"/>
            <a:ext cx="64008" cy="594360"/>
          </a:xfrm>
          <a:prstGeom prst="rect">
            <a:avLst/>
          </a:prstGeom>
          <a:solidFill>
            <a:srgbClr val="7CBF7C"/>
          </a:solidFill>
          <a:ln w="12700">
            <a:solidFill>
              <a:srgbClr val="7CBF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1856232"/>
            <a:ext cx="347472" cy="347472"/>
          </a:xfrm>
          <a:prstGeom prst="ellipse">
            <a:avLst/>
          </a:prstGeom>
          <a:solidFill>
            <a:srgbClr val="7CBF7C">
              <a:alpha val="45000"/>
            </a:srgbClr>
          </a:solidFill>
          <a:ln w="10160">
            <a:solidFill>
              <a:srgbClr val="7CBF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17739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Layer  ·  Supervised · Unsupervised · Reinforcement Learning · Regression · Classification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395728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0A0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395728"/>
            <a:ext cx="64008" cy="594360"/>
          </a:xfrm>
          <a:prstGeom prst="rect">
            <a:avLst/>
          </a:prstGeom>
          <a:solidFill>
            <a:srgbClr val="C0A050"/>
          </a:solidFill>
          <a:ln w="12700">
            <a:solidFill>
              <a:srgbClr val="C0A0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52544" y="2514600"/>
            <a:ext cx="347472" cy="347472"/>
          </a:xfrm>
          <a:prstGeom prst="ellipse">
            <a:avLst/>
          </a:prstGeom>
          <a:solidFill>
            <a:srgbClr val="C0A050">
              <a:alpha val="45000"/>
            </a:srgbClr>
          </a:solidFill>
          <a:ln w="10160">
            <a:solidFill>
              <a:srgbClr val="C0A0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24323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26883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 ·  Perceptrons · Cost Functions · Backpropagation · Activation Functions · Hidden Layers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3054096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89B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3054096"/>
            <a:ext cx="64008" cy="594360"/>
          </a:xfrm>
          <a:prstGeom prst="rect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52544" y="3172968"/>
            <a:ext cx="347472" cy="347472"/>
          </a:xfrm>
          <a:prstGeom prst="ellipse">
            <a:avLst/>
          </a:prstGeom>
          <a:solidFill>
            <a:srgbClr val="C89B4A">
              <a:alpha val="45000"/>
            </a:srgbClr>
          </a:solidFill>
          <a:ln w="10160">
            <a:solidFill>
              <a:srgbClr val="C89B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52544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30906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33467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  ·  Transformers · LSTMs · RNNs · CNNs · Autoencoders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712464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C7BA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712464"/>
            <a:ext cx="64008" cy="594360"/>
          </a:xfrm>
          <a:prstGeom prst="rect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52544" y="3831336"/>
            <a:ext cx="347472" cy="347472"/>
          </a:xfrm>
          <a:prstGeom prst="ellipse">
            <a:avLst/>
          </a:prstGeom>
          <a:solidFill>
            <a:srgbClr val="CC7BAA">
              <a:alpha val="45000"/>
            </a:srgbClr>
          </a:solidFill>
          <a:ln w="10160">
            <a:solidFill>
              <a:srgbClr val="CC7BA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52544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37490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4005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Layer  ·  LLMs · Diffusion Models · VAEs · Multimodal Models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74320" y="4370832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" y="4370832"/>
            <a:ext cx="64008" cy="5943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52544" y="4489704"/>
            <a:ext cx="347472" cy="347472"/>
          </a:xfrm>
          <a:prstGeom prst="ellipse">
            <a:avLst/>
          </a:prstGeom>
          <a:solidFill>
            <a:srgbClr val="7B2FFF">
              <a:alpha val="45000"/>
            </a:srgbClr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52544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4074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457200" y="4663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Layer  ·  Memory · Planning · Tool Use · Autonomous Execution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 —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Large Language Models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2761488"/>
            <a:ext cx="850392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26609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2157984"/>
            <a:ext cx="18288" cy="502920"/>
          </a:xfrm>
          <a:prstGeom prst="rect">
            <a:avLst/>
          </a:prstGeom>
          <a:solidFill>
            <a:srgbClr val="4A90D9">
              <a:alpha val="5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0664"/>
            <a:ext cx="960120" cy="1417320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40664"/>
            <a:ext cx="9601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832104"/>
            <a:ext cx="850392" cy="228600"/>
          </a:xfrm>
          <a:prstGeom prst="rect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83210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1106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Brain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1563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architecture powering all modern LLMs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63040" y="2660904"/>
            <a:ext cx="256032" cy="25603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63624" y="2916936"/>
            <a:ext cx="18288" cy="50292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3312" y="3419856"/>
            <a:ext cx="960120" cy="132588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53312" y="3419856"/>
            <a:ext cx="96012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8176" y="3511296"/>
            <a:ext cx="850392" cy="228600"/>
          </a:xfrm>
          <a:prstGeom prst="rect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8176" y="3511296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08176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08176" y="40416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42428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generative pre-trained transformer. 117M params, unsupervised pre-training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58568" y="2660904"/>
            <a:ext cx="256032" cy="256032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59152" y="2157984"/>
            <a:ext cx="18288" cy="502920"/>
          </a:xfrm>
          <a:prstGeom prst="rect">
            <a:avLst/>
          </a:prstGeom>
          <a:solidFill>
            <a:srgbClr val="5BA85B">
              <a:alpha val="50000"/>
            </a:srgbClr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740664"/>
            <a:ext cx="960120" cy="1417320"/>
          </a:xfrm>
          <a:prstGeom prst="rect">
            <a:avLst/>
          </a:prstGeom>
          <a:solidFill>
            <a:srgbClr val="0F1F40"/>
          </a:solidFill>
          <a:ln w="10160">
            <a:solidFill>
              <a:srgbClr val="5BA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48840" y="740664"/>
            <a:ext cx="960120" cy="54864"/>
          </a:xfrm>
          <a:prstGeom prst="rect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03704" y="832104"/>
            <a:ext cx="850392" cy="228600"/>
          </a:xfrm>
          <a:prstGeom prst="rect">
            <a:avLst/>
          </a:prstGeom>
          <a:solidFill>
            <a:srgbClr val="5BA85B">
              <a:alpha val="25000"/>
            </a:srgbClr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83210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03704" y="1106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0370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03704" y="1563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encoder. Dominated NLU tasks. Masked language modelling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08960" y="266090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9544" y="2916936"/>
            <a:ext cx="18288" cy="502920"/>
          </a:xfrm>
          <a:prstGeom prst="rect">
            <a:avLst/>
          </a:prstGeom>
          <a:solidFill>
            <a:srgbClr val="E8A020">
              <a:alpha val="5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9232" y="3419856"/>
            <a:ext cx="960120" cy="1325880"/>
          </a:xfrm>
          <a:prstGeom prst="rect">
            <a:avLst/>
          </a:prstGeom>
          <a:solidFill>
            <a:srgbClr val="0F1F40"/>
          </a:solidFill>
          <a:ln w="10160">
            <a:solidFill>
              <a:srgbClr val="E8A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99232" y="3419856"/>
            <a:ext cx="9601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54096" y="3511296"/>
            <a:ext cx="850392" cy="228600"/>
          </a:xfrm>
          <a:prstGeom prst="rect">
            <a:avLst/>
          </a:prstGeom>
          <a:solidFill>
            <a:srgbClr val="E8A020">
              <a:alpha val="2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54096" y="3511296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54096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54096" y="40416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54096" y="42428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params. Zero-shot tasks. "Too dangerous to release" initially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0" y="2660904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15384" y="2157984"/>
            <a:ext cx="18288" cy="502920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05072" y="740664"/>
            <a:ext cx="960120" cy="1417320"/>
          </a:xfrm>
          <a:prstGeom prst="rect">
            <a:avLst/>
          </a:prstGeom>
          <a:solidFill>
            <a:srgbClr val="0F1F40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005072" y="740664"/>
            <a:ext cx="9601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59936" y="832104"/>
            <a:ext cx="850392" cy="22860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9936" y="83210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59936" y="1106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059936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59936" y="1563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params. Few-shot learning. Powered first wave of AI apps via API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20640" y="2660904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221224" y="2916936"/>
            <a:ext cx="18288" cy="502920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10912" y="3419856"/>
            <a:ext cx="960120" cy="1325880"/>
          </a:xfrm>
          <a:prstGeom prst="rect">
            <a:avLst/>
          </a:prstGeom>
          <a:solidFill>
            <a:srgbClr val="0F1F40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10912" y="3419856"/>
            <a:ext cx="9601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65776" y="3511296"/>
            <a:ext cx="850392" cy="228600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65776" y="3511296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65776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65776" y="40416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65776" y="42428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fine-tuned GPT. 100M users in 60 days. GenAI goes mainstream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099048" y="2660904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99632" y="2157984"/>
            <a:ext cx="18288" cy="502920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89320" y="740664"/>
            <a:ext cx="960120" cy="1417320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989320" y="740664"/>
            <a:ext cx="96012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44184" y="832104"/>
            <a:ext cx="850392" cy="228600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44184" y="83210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044184" y="1106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Gemini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4418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/ Google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044184" y="1563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1T+ params est. Professional-level reasoning &amp; vision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104888" y="2660904"/>
            <a:ext cx="256032" cy="25603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205472" y="2916936"/>
            <a:ext cx="18288" cy="502920"/>
          </a:xfrm>
          <a:prstGeom prst="rect">
            <a:avLst/>
          </a:prstGeom>
          <a:solidFill>
            <a:srgbClr val="FF8C42">
              <a:alpha val="5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95160" y="3419856"/>
            <a:ext cx="960120" cy="1325880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995160" y="3419856"/>
            <a:ext cx="9601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50024" y="3511296"/>
            <a:ext cx="850392" cy="228600"/>
          </a:xfrm>
          <a:prstGeom prst="rect">
            <a:avLst/>
          </a:prstGeom>
          <a:solidFill>
            <a:srgbClr val="FF8C42">
              <a:alpha val="2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50024" y="3511296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050024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/ Claude 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050024" y="40416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/ Anthropic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050024" y="42428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competition heats up. Long context, tool use, safety focus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065008" y="2660904"/>
            <a:ext cx="256032" cy="256032"/>
          </a:xfrm>
          <a:prstGeom prst="ellipse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165592" y="2157984"/>
            <a:ext cx="18288" cy="502920"/>
          </a:xfrm>
          <a:prstGeom prst="rect">
            <a:avLst/>
          </a:prstGeom>
          <a:solidFill>
            <a:srgbClr val="CC7BAA">
              <a:alpha val="50000"/>
            </a:srgbClr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55280" y="740664"/>
            <a:ext cx="960120" cy="1417320"/>
          </a:xfrm>
          <a:prstGeom prst="rect">
            <a:avLst/>
          </a:prstGeom>
          <a:solidFill>
            <a:srgbClr val="0F1F40"/>
          </a:solidFill>
          <a:ln w="10160">
            <a:solidFill>
              <a:srgbClr val="CC7B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955280" y="740664"/>
            <a:ext cx="960120" cy="54864"/>
          </a:xfrm>
          <a:prstGeom prst="rect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10144" y="832104"/>
            <a:ext cx="850392" cy="228600"/>
          </a:xfrm>
          <a:prstGeom prst="rect">
            <a:avLst/>
          </a:prstGeom>
          <a:solidFill>
            <a:srgbClr val="CC7BAA">
              <a:alpha val="25000"/>
            </a:srgbClr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10144" y="83210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010144" y="1106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Era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01014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7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Industry-wide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010144" y="1563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reasoning models (o1/o3), multimodal &amp; autonomous workflows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Pre-Transformer Era: RNNs, LSTMs (2014–2016) → Word2Vec, GloVe embeddings laid the groundwork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06 —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Learning Path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49808"/>
          </a:xfrm>
          <a:prstGeom prst="rect">
            <a:avLst/>
          </a:prstGeom>
          <a:solidFill>
            <a:srgbClr val="0F1F40"/>
          </a:solidFill>
          <a:ln w="10160">
            <a:solidFill>
              <a:srgbClr val="6B9A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749808"/>
          </a:xfrm>
          <a:prstGeom prst="rect">
            <a:avLst/>
          </a:prstGeom>
          <a:solidFill>
            <a:srgbClr val="6B9AC4"/>
          </a:solidFill>
          <a:ln w="12700">
            <a:solidFill>
              <a:srgbClr val="6B9A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97864"/>
            <a:ext cx="365760" cy="365760"/>
          </a:xfrm>
          <a:prstGeom prst="ellipse">
            <a:avLst/>
          </a:prstGeom>
          <a:solidFill>
            <a:srgbClr val="6B9AC4">
              <a:alpha val="60000"/>
            </a:srgbClr>
          </a:solidFill>
          <a:ln w="12700">
            <a:solidFill>
              <a:srgbClr val="6B9A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60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399032"/>
            <a:ext cx="841248" cy="201168"/>
          </a:xfrm>
          <a:prstGeom prst="rect">
            <a:avLst/>
          </a:prstGeom>
          <a:solidFill>
            <a:srgbClr val="6B9AC4">
              <a:alpha val="28000"/>
            </a:srgbClr>
          </a:solidFill>
          <a:ln w="12700">
            <a:solidFill>
              <a:srgbClr val="6B9A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4081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2–4 weeks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6B9A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1106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Python basics &amp; data structures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6B9A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106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Math: Linear algebra, probability, statistics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0" y="138988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6B9A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Intro to ML concepts &amp; terminology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8988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6B9A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Jupyter notebooks &amp; cloud environments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8503920" cy="749808"/>
          </a:xfrm>
          <a:prstGeom prst="rect">
            <a:avLst/>
          </a:prstGeom>
          <a:solidFill>
            <a:srgbClr val="0F1F40"/>
          </a:solidFill>
          <a:ln w="10160">
            <a:solidFill>
              <a:srgbClr val="7CBF7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828800"/>
            <a:ext cx="64008" cy="749808"/>
          </a:xfrm>
          <a:prstGeom prst="rect">
            <a:avLst/>
          </a:prstGeom>
          <a:solidFill>
            <a:srgbClr val="7CBF7C"/>
          </a:solidFill>
          <a:ln w="12700">
            <a:solidFill>
              <a:srgbClr val="7CBF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020824"/>
            <a:ext cx="365760" cy="365760"/>
          </a:xfrm>
          <a:prstGeom prst="ellipse">
            <a:avLst/>
          </a:prstGeom>
          <a:solidFill>
            <a:srgbClr val="7CBF7C">
              <a:alpha val="60000"/>
            </a:srgbClr>
          </a:solidFill>
          <a:ln w="12700">
            <a:solidFill>
              <a:srgbClr val="7CB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1883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Neural Networks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2221992"/>
            <a:ext cx="841248" cy="201168"/>
          </a:xfrm>
          <a:prstGeom prst="rect">
            <a:avLst/>
          </a:prstGeom>
          <a:solidFill>
            <a:srgbClr val="7CBF7C">
              <a:alpha val="28000"/>
            </a:srgbClr>
          </a:solidFill>
          <a:ln w="12700">
            <a:solidFill>
              <a:srgbClr val="7CBF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4–6 weeks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192024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CBF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1929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Supervised &amp; unsupervised learning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CBF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929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Neural network architecture &amp; backpropagation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221284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CBF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2221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 frameworks: TensorFlow / PyTorch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221284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CBF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2221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Model evaluation, overfitting, regularisation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651760"/>
            <a:ext cx="8503920" cy="749808"/>
          </a:xfrm>
          <a:prstGeom prst="rect">
            <a:avLst/>
          </a:prstGeom>
          <a:solidFill>
            <a:srgbClr val="0F1F40"/>
          </a:solidFill>
          <a:ln w="1016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651760"/>
            <a:ext cx="64008" cy="749808"/>
          </a:xfrm>
          <a:prstGeom prst="rect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843784"/>
            <a:ext cx="365760" cy="365760"/>
          </a:xfrm>
          <a:prstGeom prst="ellipse">
            <a:avLst/>
          </a:prstGeom>
          <a:solidFill>
            <a:srgbClr val="C89B4A">
              <a:alpha val="60000"/>
            </a:srgbClr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706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Transformers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60120" y="3044952"/>
            <a:ext cx="841248" cy="201168"/>
          </a:xfrm>
          <a:prstGeom prst="rect">
            <a:avLst/>
          </a:prstGeom>
          <a:solidFill>
            <a:srgbClr val="C89B4A">
              <a:alpha val="28000"/>
            </a:srgbClr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30540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4–6 weeks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0" y="274320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89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95344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CNNs, RNNs, LSTMs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274320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89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Attention mechanism &amp; Transformer architecture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0" y="303580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89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95344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Hugging Face ecosystem &amp; pre-trained models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17920" y="303580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89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Fine-tuning &amp; transfer learning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3474720"/>
            <a:ext cx="8503920" cy="749808"/>
          </a:xfrm>
          <a:prstGeom prst="rect">
            <a:avLst/>
          </a:prstGeom>
          <a:solidFill>
            <a:srgbClr val="0F1F40"/>
          </a:solidFill>
          <a:ln w="10160">
            <a:solidFill>
              <a:srgbClr val="CC7B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3474720"/>
            <a:ext cx="64008" cy="749808"/>
          </a:xfrm>
          <a:prstGeom prst="rect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3666744"/>
            <a:ext cx="365760" cy="365760"/>
          </a:xfrm>
          <a:prstGeom prst="ellipse">
            <a:avLst/>
          </a:prstGeom>
          <a:solidFill>
            <a:srgbClr val="CC7BAA">
              <a:alpha val="60000"/>
            </a:srgbClr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60120" y="3529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0120" y="3867912"/>
            <a:ext cx="841248" cy="201168"/>
          </a:xfrm>
          <a:prstGeom prst="rect">
            <a:avLst/>
          </a:prstGeom>
          <a:solidFill>
            <a:srgbClr val="CC7BAA">
              <a:alpha val="28000"/>
            </a:srgbClr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" y="3877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4–8 weeks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0" y="356616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C7B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95344" y="3575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LLM internals: tokenisation, embeddings, inference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356616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C7B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3575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Prompt engineering &amp; advanced techniques (CoT, RAG)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840480" y="385876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C7B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344" y="3867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APIs: OpenAI, Anthropic, Gemini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385876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CC7B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3867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Building AI-powered applications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297680"/>
            <a:ext cx="8503920" cy="749808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20040" y="4297680"/>
            <a:ext cx="64008" cy="7498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4489704"/>
            <a:ext cx="365760" cy="365760"/>
          </a:xfrm>
          <a:prstGeom prst="ellipse">
            <a:avLst/>
          </a:prstGeom>
          <a:solidFill>
            <a:srgbClr val="7B2FFF">
              <a:alpha val="6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960120" y="4352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Deployment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60120" y="4690872"/>
            <a:ext cx="841248" cy="201168"/>
          </a:xfrm>
          <a:prstGeom prst="rect">
            <a:avLst/>
          </a:prstGeom>
          <a:solidFill>
            <a:srgbClr val="7B2FFF">
              <a:alpha val="2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8408" y="47000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4–8 weeks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840480" y="438912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95344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Agents: LangChain, AutoGen, CrewAI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17920" y="4389120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2784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 use, function calling &amp; memory systems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840480" y="468172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95344" y="4690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MLOps: deployment, monitoring, evaluation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17920" y="4681728"/>
            <a:ext cx="2212848" cy="219456"/>
          </a:xfrm>
          <a:prstGeom prst="rect">
            <a:avLst/>
          </a:prstGeom>
          <a:solidFill>
            <a:srgbClr val="050A18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72784" y="4690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Responsible AI, safety &amp; governance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80060" y="1755648"/>
            <a:ext cx="45720" cy="7315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0060" y="2578608"/>
            <a:ext cx="45720" cy="7315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0060" y="3401568"/>
            <a:ext cx="45720" cy="7315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0060" y="4224528"/>
            <a:ext cx="45720" cy="7315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18–32 weeks  ·  Resources: fast.ai · deeplearning.ai · Hugging Face · Coursera · YouTube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Project: Solution Flow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560320" cy="3977640"/>
          </a:xfrm>
          <a:prstGeom prst="rect">
            <a:avLst/>
          </a:prstGeom>
          <a:solidFill>
            <a:srgbClr val="4A90D9">
              <a:alpha val="6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560320" cy="27432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LAYER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63240" y="1005840"/>
            <a:ext cx="3246120" cy="3977640"/>
          </a:xfrm>
          <a:prstGeom prst="rect">
            <a:avLst/>
          </a:prstGeom>
          <a:solidFill>
            <a:srgbClr val="7B2FFF">
              <a:alpha val="6000"/>
            </a:srgbClr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005840"/>
            <a:ext cx="3246120" cy="274320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241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37960" y="1005840"/>
            <a:ext cx="2423160" cy="3977640"/>
          </a:xfrm>
          <a:prstGeom prst="rect">
            <a:avLst/>
          </a:prstGeom>
          <a:solidFill>
            <a:srgbClr val="06D6A0">
              <a:alpha val="6000"/>
            </a:srgbClr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005840"/>
            <a:ext cx="2423160" cy="274320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0241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LAYER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463040"/>
            <a:ext cx="23774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46304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5179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prompt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1700784"/>
            <a:ext cx="347472" cy="2743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6002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23774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9456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494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/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505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CSV, URLs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432304"/>
            <a:ext cx="347472" cy="2743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331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23774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2608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236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source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97480" y="3163824"/>
            <a:ext cx="347472" cy="2743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0632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23774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5760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Tools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97480" y="3895344"/>
            <a:ext cx="347472" cy="2743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7947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54680" y="1417320"/>
            <a:ext cx="30632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1417320"/>
            <a:ext cx="54864" cy="5669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1472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/ Agent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10128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AutoGen · CrewAI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2084832"/>
            <a:ext cx="3063240" cy="640080"/>
          </a:xfrm>
          <a:prstGeom prst="rect">
            <a:avLst/>
          </a:prstGeom>
          <a:solidFill>
            <a:srgbClr val="0F1F40"/>
          </a:solidFill>
          <a:ln w="1016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54680" y="2084832"/>
            <a:ext cx="54864" cy="6400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0128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→ Vector DB → Top-K chunks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54680" y="2834640"/>
            <a:ext cx="30632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CC7B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54680" y="2834640"/>
            <a:ext cx="54864" cy="566928"/>
          </a:xfrm>
          <a:prstGeom prst="rect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10128" y="3127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Claude · Gemini · Llama 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154680" y="3502152"/>
            <a:ext cx="306324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54680" y="3502152"/>
            <a:ext cx="54864" cy="5669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35570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10128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chat + Long-term knowledge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154680" y="4096512"/>
            <a:ext cx="3063240" cy="457200"/>
          </a:xfrm>
          <a:prstGeom prst="rect">
            <a:avLst/>
          </a:prstGeom>
          <a:solidFill>
            <a:srgbClr val="0F1F40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54680" y="4096512"/>
            <a:ext cx="54864" cy="4572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10128" y="4389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 · PII redaction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72584" y="1984248"/>
            <a:ext cx="27432" cy="100584"/>
          </a:xfrm>
          <a:prstGeom prst="rect">
            <a:avLst/>
          </a:prstGeom>
          <a:solidFill>
            <a:srgbClr val="7B2FFF">
              <a:alpha val="6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72584" y="2724912"/>
            <a:ext cx="27432" cy="109728"/>
          </a:xfrm>
          <a:prstGeom prst="rect">
            <a:avLst/>
          </a:prstGeom>
          <a:solidFill>
            <a:srgbClr val="7B2FFF">
              <a:alpha val="6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72584" y="3401568"/>
            <a:ext cx="27432" cy="100584"/>
          </a:xfrm>
          <a:prstGeom prst="rect">
            <a:avLst/>
          </a:prstGeom>
          <a:solidFill>
            <a:srgbClr val="7B2FFF">
              <a:alpha val="6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72584" y="4069080"/>
            <a:ext cx="27432" cy="100584"/>
          </a:xfrm>
          <a:prstGeom prst="rect">
            <a:avLst/>
          </a:prstGeom>
          <a:solidFill>
            <a:srgbClr val="7B2FFF">
              <a:alpha val="6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0" y="1691640"/>
            <a:ext cx="301752" cy="27432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16002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▶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2395728"/>
            <a:ext cx="301752" cy="27432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23042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▶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3108960"/>
            <a:ext cx="301752" cy="27432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0175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▶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3767328"/>
            <a:ext cx="301752" cy="27432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36758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▶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629400" y="1463040"/>
            <a:ext cx="224028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629400" y="146304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15179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784848" y="1773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text answer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29400" y="2194560"/>
            <a:ext cx="224028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629400" y="219456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84848" y="22494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Document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84848" y="25054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Summary / Email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629400" y="2926080"/>
            <a:ext cx="224028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629400" y="2926080"/>
            <a:ext cx="54864" cy="566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84848" y="29809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Data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784848" y="32369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SQL, analysis output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629400" y="3657600"/>
            <a:ext cx="2240280" cy="566928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629400" y="3657600"/>
            <a:ext cx="54864" cy="5669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84848" y="37124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API Call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784848" y="3968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CRM update, webhook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31520" y="4617720"/>
            <a:ext cx="7680960" cy="27432"/>
          </a:xfrm>
          <a:prstGeom prst="rect">
            <a:avLst/>
          </a:prstGeom>
          <a:solidFill>
            <a:srgbClr val="7A9CC0">
              <a:alpha val="4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6542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Feedback Loop: User rating &amp; corrections → Fine-tuning / RLHF pipeline → Improved model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DB: Pinecone · Weaviate · ChromaDB  ·  Observability: LangSmith · Weights &amp; Biases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Generative AI</dc:title>
  <dc:subject>PptxGenJS Presentation</dc:subject>
  <dc:creator>PptxGenJS</dc:creator>
  <cp:lastModifiedBy>PptxGenJS</cp:lastModifiedBy>
  <cp:revision>1</cp:revision>
  <dcterms:created xsi:type="dcterms:W3CDTF">2026-02-21T11:17:33Z</dcterms:created>
  <dcterms:modified xsi:type="dcterms:W3CDTF">2026-02-21T11:17:33Z</dcterms:modified>
</cp:coreProperties>
</file>