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03F6B"/>
          </a:solidFill>
          <a:ln w="12700">
            <a:solidFill>
              <a:srgbClr val="003F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5486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ON AZURE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0" y="7315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0" y="1645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8C8E8"/>
                </a:solidFill>
              </a:rPr>
              <a:t>microsoft azure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09728" y="658368"/>
            <a:ext cx="1737360" cy="5394960"/>
          </a:xfrm>
          <a:prstGeom prst="rect">
            <a:avLst/>
          </a:prstGeom>
          <a:solidFill>
            <a:srgbClr val="E8F4FD"/>
          </a:solidFill>
          <a:ln w="12700">
            <a:solidFill>
              <a:srgbClr val="50A0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9728" y="658368"/>
            <a:ext cx="1737360" cy="292608"/>
          </a:xfrm>
          <a:prstGeom prst="rect">
            <a:avLst/>
          </a:prstGeom>
          <a:solidFill>
            <a:srgbClr val="003F6B"/>
          </a:solidFill>
          <a:ln w="12700">
            <a:solidFill>
              <a:srgbClr val="003F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" y="6583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Ingestion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965960" y="658368"/>
            <a:ext cx="2926080" cy="5394960"/>
          </a:xfrm>
          <a:prstGeom prst="rect">
            <a:avLst/>
          </a:prstGeom>
          <a:solidFill>
            <a:srgbClr val="E8F4FD"/>
          </a:solidFill>
          <a:ln w="12700">
            <a:solidFill>
              <a:srgbClr val="50A0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65960" y="658368"/>
            <a:ext cx="2926080" cy="292608"/>
          </a:xfrm>
          <a:prstGeom prst="rect">
            <a:avLst/>
          </a:prstGeom>
          <a:solidFill>
            <a:srgbClr val="003F6B"/>
          </a:solidFill>
          <a:ln w="12700">
            <a:solidFill>
              <a:srgbClr val="003F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39112" y="6583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Platform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029200" y="658368"/>
            <a:ext cx="2926080" cy="5394960"/>
          </a:xfrm>
          <a:prstGeom prst="rect">
            <a:avLst/>
          </a:prstGeom>
          <a:solidFill>
            <a:srgbClr val="E8F4FD"/>
          </a:solidFill>
          <a:ln w="12700">
            <a:solidFill>
              <a:srgbClr val="50A0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0" y="658368"/>
            <a:ext cx="2926080" cy="292608"/>
          </a:xfrm>
          <a:prstGeom prst="rect">
            <a:avLst/>
          </a:prstGeom>
          <a:solidFill>
            <a:srgbClr val="003F6B"/>
          </a:solidFill>
          <a:ln w="12700">
            <a:solidFill>
              <a:srgbClr val="003F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02352" y="6583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 Platform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092440" y="658368"/>
            <a:ext cx="3931920" cy="5394960"/>
          </a:xfrm>
          <a:prstGeom prst="rect">
            <a:avLst/>
          </a:prstGeom>
          <a:solidFill>
            <a:srgbClr val="E8F4FD"/>
          </a:solidFill>
          <a:ln w="12700">
            <a:solidFill>
              <a:srgbClr val="50A0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92440" y="658368"/>
            <a:ext cx="3931920" cy="292608"/>
          </a:xfrm>
          <a:prstGeom prst="rect">
            <a:avLst/>
          </a:prstGeom>
          <a:solidFill>
            <a:srgbClr val="003F6B"/>
          </a:solidFill>
          <a:ln w="12700">
            <a:solidFill>
              <a:srgbClr val="003F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65592" y="6583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Consumption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82880" y="1115568"/>
            <a:ext cx="502920" cy="228600"/>
          </a:xfrm>
          <a:prstGeom prst="rect">
            <a:avLst/>
          </a:prstGeom>
          <a:solidFill>
            <a:srgbClr val="CC2929"/>
          </a:solidFill>
          <a:ln w="12700">
            <a:solidFill>
              <a:srgbClr val="CC292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82880" y="11155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PDF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182880" y="1389888"/>
            <a:ext cx="502920" cy="228600"/>
          </a:xfrm>
          <a:prstGeom prst="rect">
            <a:avLst/>
          </a:prstGeom>
          <a:solidFill>
            <a:srgbClr val="CC2929"/>
          </a:solidFill>
          <a:ln w="12700">
            <a:solidFill>
              <a:srgbClr val="CC292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82880" y="13898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PDF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182880" y="1664208"/>
            <a:ext cx="502920" cy="22860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82880" y="16642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XLS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182880" y="1938528"/>
            <a:ext cx="502920" cy="22860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82880" y="19385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XLS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155448" y="9784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A7A9A"/>
                </a:solidFill>
              </a:rPr>
              <a:t>File Upload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429768" y="2231136"/>
            <a:ext cx="0" cy="210312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  <a:tailEnd type="arrow"/>
          </a:ln>
        </p:spPr>
      </p:sp>
      <p:sp>
        <p:nvSpPr>
          <p:cNvPr id="29" name="Shape 26"/>
          <p:cNvSpPr/>
          <p:nvPr/>
        </p:nvSpPr>
        <p:spPr>
          <a:xfrm>
            <a:off x="310896" y="2212848"/>
            <a:ext cx="237744" cy="237744"/>
          </a:xfrm>
          <a:prstGeom prst="ellipse">
            <a:avLst/>
          </a:prstGeom>
          <a:solidFill>
            <a:srgbClr val="003F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10896" y="22128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306324" y="2624328"/>
            <a:ext cx="132588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50A0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06324" y="2624328"/>
            <a:ext cx="132588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715768"/>
            <a:ext cx="365760" cy="36576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361188" y="3099816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B3C"/>
                </a:solidFill>
              </a:rPr>
              <a:t>Azure Blob Storage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361188" y="3291840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7A9A"/>
                </a:solidFill>
              </a:rPr>
              <a:t>File Store</a:t>
            </a:r>
            <a:endParaRPr lang="en-US" sz="700" dirty="0"/>
          </a:p>
        </p:txBody>
      </p:sp>
      <p:sp>
        <p:nvSpPr>
          <p:cNvPr id="36" name="Shape 32"/>
          <p:cNvSpPr/>
          <p:nvPr/>
        </p:nvSpPr>
        <p:spPr>
          <a:xfrm>
            <a:off x="2125980" y="1207008"/>
            <a:ext cx="132588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50A0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2125980" y="1207008"/>
            <a:ext cx="132588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1298448"/>
            <a:ext cx="365760" cy="36576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2180844" y="1682496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B3C"/>
                </a:solidFill>
              </a:rPr>
              <a:t>Azure Data Factory</a:t>
            </a:r>
            <a:endParaRPr lang="en-US" sz="850" dirty="0"/>
          </a:p>
        </p:txBody>
      </p:sp>
      <p:sp>
        <p:nvSpPr>
          <p:cNvPr id="40" name="Text 35"/>
          <p:cNvSpPr/>
          <p:nvPr/>
        </p:nvSpPr>
        <p:spPr>
          <a:xfrm>
            <a:off x="2180844" y="1874520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7A9A"/>
                </a:solidFill>
              </a:rPr>
              <a:t>Orchestration</a:t>
            </a:r>
            <a:endParaRPr lang="en-US" sz="700" dirty="0"/>
          </a:p>
        </p:txBody>
      </p:sp>
      <p:sp>
        <p:nvSpPr>
          <p:cNvPr id="41" name="Shape 36"/>
          <p:cNvSpPr/>
          <p:nvPr/>
        </p:nvSpPr>
        <p:spPr>
          <a:xfrm>
            <a:off x="1627632" y="3081528"/>
            <a:ext cx="539496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  <a:tailEnd type="arrow"/>
          </a:ln>
        </p:spPr>
      </p:sp>
      <p:sp>
        <p:nvSpPr>
          <p:cNvPr id="42" name="Text 37"/>
          <p:cNvSpPr/>
          <p:nvPr/>
        </p:nvSpPr>
        <p:spPr>
          <a:xfrm>
            <a:off x="1623060" y="291693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5A7A9A"/>
                </a:solidFill>
              </a:rPr>
              <a:t>upload</a:t>
            </a:r>
            <a:endParaRPr lang="en-US" sz="650" dirty="0"/>
          </a:p>
        </p:txBody>
      </p:sp>
      <p:sp>
        <p:nvSpPr>
          <p:cNvPr id="43" name="Shape 38"/>
          <p:cNvSpPr/>
          <p:nvPr/>
        </p:nvSpPr>
        <p:spPr>
          <a:xfrm>
            <a:off x="1787652" y="2971800"/>
            <a:ext cx="219456" cy="219456"/>
          </a:xfrm>
          <a:prstGeom prst="ellipse">
            <a:avLst/>
          </a:prstGeom>
          <a:solidFill>
            <a:srgbClr val="0078D4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1787652" y="29718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45" name="Shape 40"/>
          <p:cNvSpPr/>
          <p:nvPr/>
        </p:nvSpPr>
        <p:spPr>
          <a:xfrm>
            <a:off x="2125980" y="2624328"/>
            <a:ext cx="132588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50A0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1"/>
          <p:cNvSpPr/>
          <p:nvPr/>
        </p:nvSpPr>
        <p:spPr>
          <a:xfrm>
            <a:off x="2125980" y="2624328"/>
            <a:ext cx="132588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2715768"/>
            <a:ext cx="365760" cy="365760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2180844" y="3099816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B3C"/>
                </a:solidFill>
              </a:rPr>
              <a:t>Data Chunking</a:t>
            </a:r>
            <a:endParaRPr lang="en-US" sz="850" dirty="0"/>
          </a:p>
        </p:txBody>
      </p:sp>
      <p:sp>
        <p:nvSpPr>
          <p:cNvPr id="49" name="Text 43"/>
          <p:cNvSpPr/>
          <p:nvPr/>
        </p:nvSpPr>
        <p:spPr>
          <a:xfrm>
            <a:off x="2180844" y="3291840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7A9A"/>
                </a:solidFill>
              </a:rPr>
              <a:t>Doc Intelligence</a:t>
            </a:r>
            <a:endParaRPr lang="en-US" sz="700" dirty="0"/>
          </a:p>
        </p:txBody>
      </p:sp>
      <p:sp>
        <p:nvSpPr>
          <p:cNvPr id="50" name="Shape 44"/>
          <p:cNvSpPr/>
          <p:nvPr/>
        </p:nvSpPr>
        <p:spPr>
          <a:xfrm>
            <a:off x="2788920" y="2121408"/>
            <a:ext cx="0" cy="50292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  <a:tailEnd type="arrow"/>
          </a:ln>
        </p:spPr>
      </p:sp>
      <p:sp>
        <p:nvSpPr>
          <p:cNvPr id="51" name="Text 45"/>
          <p:cNvSpPr/>
          <p:nvPr/>
        </p:nvSpPr>
        <p:spPr>
          <a:xfrm>
            <a:off x="2834640" y="22814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A7A9A"/>
                </a:solidFill>
              </a:rPr>
              <a:t>process</a:t>
            </a:r>
            <a:endParaRPr lang="en-US" sz="650" dirty="0"/>
          </a:p>
        </p:txBody>
      </p:sp>
      <p:sp>
        <p:nvSpPr>
          <p:cNvPr id="52" name="Shape 46"/>
          <p:cNvSpPr/>
          <p:nvPr/>
        </p:nvSpPr>
        <p:spPr>
          <a:xfrm>
            <a:off x="2670048" y="2249424"/>
            <a:ext cx="237744" cy="237744"/>
          </a:xfrm>
          <a:prstGeom prst="ellipse">
            <a:avLst/>
          </a:prstGeom>
          <a:solidFill>
            <a:srgbClr val="003F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2670048" y="22494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54" name="Text 48"/>
          <p:cNvSpPr/>
          <p:nvPr/>
        </p:nvSpPr>
        <p:spPr>
          <a:xfrm>
            <a:off x="3246120" y="33558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A7A9A"/>
                </a:solidFill>
              </a:rPr>
              <a:t>Store as Vectors</a:t>
            </a:r>
            <a:endParaRPr lang="en-US" sz="650" dirty="0"/>
          </a:p>
        </p:txBody>
      </p:sp>
      <p:sp>
        <p:nvSpPr>
          <p:cNvPr id="55" name="Shape 49"/>
          <p:cNvSpPr/>
          <p:nvPr/>
        </p:nvSpPr>
        <p:spPr>
          <a:xfrm>
            <a:off x="4041648" y="3328416"/>
            <a:ext cx="237744" cy="237744"/>
          </a:xfrm>
          <a:prstGeom prst="ellipse">
            <a:avLst/>
          </a:prstGeom>
          <a:solidFill>
            <a:srgbClr val="003F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4041648" y="33284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57" name="Shape 51"/>
          <p:cNvSpPr/>
          <p:nvPr/>
        </p:nvSpPr>
        <p:spPr>
          <a:xfrm>
            <a:off x="2125980" y="4133088"/>
            <a:ext cx="132588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50A0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8" name="Shape 52"/>
          <p:cNvSpPr/>
          <p:nvPr/>
        </p:nvSpPr>
        <p:spPr>
          <a:xfrm>
            <a:off x="2125980" y="4133088"/>
            <a:ext cx="132588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5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040" y="4224528"/>
            <a:ext cx="365760" cy="365760"/>
          </a:xfrm>
          <a:prstGeom prst="rect">
            <a:avLst/>
          </a:prstGeom>
        </p:spPr>
      </p:pic>
      <p:sp>
        <p:nvSpPr>
          <p:cNvPr id="60" name="Text 53"/>
          <p:cNvSpPr/>
          <p:nvPr/>
        </p:nvSpPr>
        <p:spPr>
          <a:xfrm>
            <a:off x="2180844" y="4608576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B3C"/>
                </a:solidFill>
              </a:rPr>
              <a:t>Azure AI Search</a:t>
            </a:r>
            <a:endParaRPr lang="en-US" sz="850" dirty="0"/>
          </a:p>
        </p:txBody>
      </p:sp>
      <p:sp>
        <p:nvSpPr>
          <p:cNvPr id="61" name="Text 54"/>
          <p:cNvSpPr/>
          <p:nvPr/>
        </p:nvSpPr>
        <p:spPr>
          <a:xfrm>
            <a:off x="2180844" y="4800600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7A9A"/>
                </a:solidFill>
              </a:rPr>
              <a:t>Vector Index</a:t>
            </a:r>
            <a:endParaRPr lang="en-US" sz="700" dirty="0"/>
          </a:p>
        </p:txBody>
      </p:sp>
      <p:sp>
        <p:nvSpPr>
          <p:cNvPr id="62" name="Shape 55"/>
          <p:cNvSpPr/>
          <p:nvPr/>
        </p:nvSpPr>
        <p:spPr>
          <a:xfrm>
            <a:off x="2788920" y="3538728"/>
            <a:ext cx="0" cy="59436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  <a:tailEnd type="arrow"/>
          </a:ln>
        </p:spPr>
      </p:sp>
      <p:sp>
        <p:nvSpPr>
          <p:cNvPr id="63" name="Text 56"/>
          <p:cNvSpPr/>
          <p:nvPr/>
        </p:nvSpPr>
        <p:spPr>
          <a:xfrm>
            <a:off x="2834640" y="374446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5A7A9A"/>
                </a:solidFill>
              </a:rPr>
              <a:t>vectors</a:t>
            </a:r>
            <a:endParaRPr lang="en-US" sz="650" dirty="0"/>
          </a:p>
        </p:txBody>
      </p:sp>
      <p:sp>
        <p:nvSpPr>
          <p:cNvPr id="64" name="Text 57"/>
          <p:cNvSpPr/>
          <p:nvPr/>
        </p:nvSpPr>
        <p:spPr>
          <a:xfrm>
            <a:off x="5102352" y="1005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78D4"/>
                </a:solidFill>
              </a:rPr>
              <a:t>Azure OpenAI Service</a:t>
            </a:r>
            <a:endParaRPr lang="en-US" sz="800" dirty="0"/>
          </a:p>
        </p:txBody>
      </p:sp>
      <p:sp>
        <p:nvSpPr>
          <p:cNvPr id="65" name="Shape 58"/>
          <p:cNvSpPr/>
          <p:nvPr/>
        </p:nvSpPr>
        <p:spPr>
          <a:xfrm>
            <a:off x="5280660" y="1207008"/>
            <a:ext cx="132588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50A0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6" name="Shape 59"/>
          <p:cNvSpPr/>
          <p:nvPr/>
        </p:nvSpPr>
        <p:spPr>
          <a:xfrm>
            <a:off x="5280660" y="1207008"/>
            <a:ext cx="132588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6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1298448"/>
            <a:ext cx="365760" cy="365760"/>
          </a:xfrm>
          <a:prstGeom prst="rect">
            <a:avLst/>
          </a:prstGeom>
        </p:spPr>
      </p:pic>
      <p:sp>
        <p:nvSpPr>
          <p:cNvPr id="68" name="Text 60"/>
          <p:cNvSpPr/>
          <p:nvPr/>
        </p:nvSpPr>
        <p:spPr>
          <a:xfrm>
            <a:off x="5335524" y="1682496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B3C"/>
                </a:solidFill>
              </a:rPr>
              <a:t>Embeddings Model</a:t>
            </a:r>
            <a:endParaRPr lang="en-US" sz="850" dirty="0"/>
          </a:p>
        </p:txBody>
      </p:sp>
      <p:sp>
        <p:nvSpPr>
          <p:cNvPr id="69" name="Text 61"/>
          <p:cNvSpPr/>
          <p:nvPr/>
        </p:nvSpPr>
        <p:spPr>
          <a:xfrm>
            <a:off x="5335524" y="1874520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7A9A"/>
                </a:solidFill>
              </a:rPr>
              <a:t>text-embedding-ada</a:t>
            </a:r>
            <a:endParaRPr lang="en-US" sz="700" dirty="0"/>
          </a:p>
        </p:txBody>
      </p:sp>
      <p:sp>
        <p:nvSpPr>
          <p:cNvPr id="70" name="Shape 62"/>
          <p:cNvSpPr/>
          <p:nvPr/>
        </p:nvSpPr>
        <p:spPr>
          <a:xfrm>
            <a:off x="4370832" y="4590288"/>
            <a:ext cx="859536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  <a:tailEnd type="arrow"/>
          </a:ln>
        </p:spPr>
      </p:sp>
      <p:sp>
        <p:nvSpPr>
          <p:cNvPr id="71" name="Text 63"/>
          <p:cNvSpPr/>
          <p:nvPr/>
        </p:nvSpPr>
        <p:spPr>
          <a:xfrm>
            <a:off x="4526280" y="442569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5A7A9A"/>
                </a:solidFill>
              </a:rPr>
              <a:t>Similarity Search</a:t>
            </a:r>
            <a:endParaRPr lang="en-US" sz="650" dirty="0"/>
          </a:p>
        </p:txBody>
      </p:sp>
      <p:sp>
        <p:nvSpPr>
          <p:cNvPr id="72" name="Shape 64"/>
          <p:cNvSpPr/>
          <p:nvPr/>
        </p:nvSpPr>
        <p:spPr>
          <a:xfrm>
            <a:off x="4690872" y="4480560"/>
            <a:ext cx="219456" cy="219456"/>
          </a:xfrm>
          <a:prstGeom prst="ellipse">
            <a:avLst/>
          </a:prstGeom>
          <a:solidFill>
            <a:srgbClr val="0078D4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3" name="Text 65"/>
          <p:cNvSpPr/>
          <p:nvPr/>
        </p:nvSpPr>
        <p:spPr>
          <a:xfrm>
            <a:off x="4690872" y="44805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7</a:t>
            </a:r>
            <a:endParaRPr lang="en-US" sz="700" dirty="0"/>
          </a:p>
        </p:txBody>
      </p:sp>
      <p:sp>
        <p:nvSpPr>
          <p:cNvPr id="74" name="Shape 66"/>
          <p:cNvSpPr/>
          <p:nvPr/>
        </p:nvSpPr>
        <p:spPr>
          <a:xfrm>
            <a:off x="5280660" y="2624328"/>
            <a:ext cx="132588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50A0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5" name="Shape 67"/>
          <p:cNvSpPr/>
          <p:nvPr/>
        </p:nvSpPr>
        <p:spPr>
          <a:xfrm>
            <a:off x="5280660" y="2624328"/>
            <a:ext cx="132588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7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2715768"/>
            <a:ext cx="365760" cy="365760"/>
          </a:xfrm>
          <a:prstGeom prst="rect">
            <a:avLst/>
          </a:prstGeom>
        </p:spPr>
      </p:pic>
      <p:sp>
        <p:nvSpPr>
          <p:cNvPr id="77" name="Text 68"/>
          <p:cNvSpPr/>
          <p:nvPr/>
        </p:nvSpPr>
        <p:spPr>
          <a:xfrm>
            <a:off x="5335524" y="3099816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B3C"/>
                </a:solidFill>
              </a:rPr>
              <a:t>Text Generation</a:t>
            </a:r>
            <a:endParaRPr lang="en-US" sz="850" dirty="0"/>
          </a:p>
        </p:txBody>
      </p:sp>
      <p:sp>
        <p:nvSpPr>
          <p:cNvPr id="78" name="Text 69"/>
          <p:cNvSpPr/>
          <p:nvPr/>
        </p:nvSpPr>
        <p:spPr>
          <a:xfrm>
            <a:off x="5335524" y="3291840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7A9A"/>
                </a:solidFill>
              </a:rPr>
              <a:t>GPT-4o / GPT-4 Turbo</a:t>
            </a:r>
            <a:endParaRPr lang="en-US" sz="700" dirty="0"/>
          </a:p>
        </p:txBody>
      </p:sp>
      <p:sp>
        <p:nvSpPr>
          <p:cNvPr id="79" name="Shape 70"/>
          <p:cNvSpPr/>
          <p:nvPr/>
        </p:nvSpPr>
        <p:spPr>
          <a:xfrm>
            <a:off x="5943600" y="2121408"/>
            <a:ext cx="0" cy="50292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  <a:tailEnd type="arrow"/>
          </a:ln>
        </p:spPr>
      </p:sp>
      <p:sp>
        <p:nvSpPr>
          <p:cNvPr id="80" name="Shape 71"/>
          <p:cNvSpPr/>
          <p:nvPr/>
        </p:nvSpPr>
        <p:spPr>
          <a:xfrm>
            <a:off x="5824728" y="2249424"/>
            <a:ext cx="237744" cy="237744"/>
          </a:xfrm>
          <a:prstGeom prst="ellipse">
            <a:avLst/>
          </a:prstGeom>
          <a:solidFill>
            <a:srgbClr val="003F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Text 72"/>
          <p:cNvSpPr/>
          <p:nvPr/>
        </p:nvSpPr>
        <p:spPr>
          <a:xfrm>
            <a:off x="5824728" y="22494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10</a:t>
            </a:r>
            <a:endParaRPr lang="en-US" sz="800" dirty="0"/>
          </a:p>
        </p:txBody>
      </p:sp>
      <p:sp>
        <p:nvSpPr>
          <p:cNvPr id="82" name="Shape 73"/>
          <p:cNvSpPr/>
          <p:nvPr/>
        </p:nvSpPr>
        <p:spPr>
          <a:xfrm>
            <a:off x="5280660" y="4133088"/>
            <a:ext cx="132588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50A0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3" name="Shape 74"/>
          <p:cNvSpPr/>
          <p:nvPr/>
        </p:nvSpPr>
        <p:spPr>
          <a:xfrm>
            <a:off x="5280660" y="4133088"/>
            <a:ext cx="132588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8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4224528"/>
            <a:ext cx="365760" cy="365760"/>
          </a:xfrm>
          <a:prstGeom prst="rect">
            <a:avLst/>
          </a:prstGeom>
        </p:spPr>
      </p:pic>
      <p:sp>
        <p:nvSpPr>
          <p:cNvPr id="85" name="Text 75"/>
          <p:cNvSpPr/>
          <p:nvPr/>
        </p:nvSpPr>
        <p:spPr>
          <a:xfrm>
            <a:off x="5335524" y="4608576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B3C"/>
                </a:solidFill>
              </a:rPr>
              <a:t>Azure AI Foundry</a:t>
            </a:r>
            <a:endParaRPr lang="en-US" sz="850" dirty="0"/>
          </a:p>
        </p:txBody>
      </p:sp>
      <p:sp>
        <p:nvSpPr>
          <p:cNvPr id="86" name="Text 76"/>
          <p:cNvSpPr/>
          <p:nvPr/>
        </p:nvSpPr>
        <p:spPr>
          <a:xfrm>
            <a:off x="5335524" y="4800600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7A9A"/>
                </a:solidFill>
              </a:rPr>
              <a:t>Prompt Flow</a:t>
            </a:r>
            <a:endParaRPr lang="en-US" sz="700" dirty="0"/>
          </a:p>
        </p:txBody>
      </p:sp>
      <p:sp>
        <p:nvSpPr>
          <p:cNvPr id="87" name="Text 77"/>
          <p:cNvSpPr/>
          <p:nvPr/>
        </p:nvSpPr>
        <p:spPr>
          <a:xfrm>
            <a:off x="8165592" y="1005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78D4"/>
                </a:solidFill>
              </a:rPr>
              <a:t>EC2(solution Deployment)</a:t>
            </a:r>
            <a:endParaRPr lang="en-US" sz="800" dirty="0"/>
          </a:p>
        </p:txBody>
      </p:sp>
      <p:sp>
        <p:nvSpPr>
          <p:cNvPr id="88" name="Shape 78"/>
          <p:cNvSpPr/>
          <p:nvPr/>
        </p:nvSpPr>
        <p:spPr>
          <a:xfrm>
            <a:off x="8663940" y="1207008"/>
            <a:ext cx="132588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50A0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9" name="Shape 79"/>
          <p:cNvSpPr/>
          <p:nvPr/>
        </p:nvSpPr>
        <p:spPr>
          <a:xfrm>
            <a:off x="8663940" y="1207008"/>
            <a:ext cx="132588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9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0" y="1298448"/>
            <a:ext cx="365760" cy="365760"/>
          </a:xfrm>
          <a:prstGeom prst="rect">
            <a:avLst/>
          </a:prstGeom>
        </p:spPr>
      </p:pic>
      <p:sp>
        <p:nvSpPr>
          <p:cNvPr id="91" name="Text 80"/>
          <p:cNvSpPr/>
          <p:nvPr/>
        </p:nvSpPr>
        <p:spPr>
          <a:xfrm>
            <a:off x="8718804" y="1682496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B3C"/>
                </a:solidFill>
              </a:rPr>
              <a:t>Azure App Service</a:t>
            </a:r>
            <a:endParaRPr lang="en-US" sz="850" dirty="0"/>
          </a:p>
        </p:txBody>
      </p:sp>
      <p:sp>
        <p:nvSpPr>
          <p:cNvPr id="92" name="Text 81"/>
          <p:cNvSpPr/>
          <p:nvPr/>
        </p:nvSpPr>
        <p:spPr>
          <a:xfrm>
            <a:off x="8718804" y="1874520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7A9A"/>
                </a:solidFill>
              </a:rPr>
              <a:t>Streamlit</a:t>
            </a:r>
            <a:endParaRPr lang="en-US" sz="700" dirty="0"/>
          </a:p>
        </p:txBody>
      </p:sp>
      <p:sp>
        <p:nvSpPr>
          <p:cNvPr id="93" name="Shape 82"/>
          <p:cNvSpPr/>
          <p:nvPr/>
        </p:nvSpPr>
        <p:spPr>
          <a:xfrm>
            <a:off x="8110728" y="1545336"/>
            <a:ext cx="237744" cy="237744"/>
          </a:xfrm>
          <a:prstGeom prst="ellipse">
            <a:avLst/>
          </a:prstGeom>
          <a:solidFill>
            <a:srgbClr val="003F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4" name="Text 83"/>
          <p:cNvSpPr/>
          <p:nvPr/>
        </p:nvSpPr>
        <p:spPr>
          <a:xfrm>
            <a:off x="8110728" y="15453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95" name="Shape 84"/>
          <p:cNvSpPr/>
          <p:nvPr/>
        </p:nvSpPr>
        <p:spPr>
          <a:xfrm>
            <a:off x="6601968" y="3081528"/>
            <a:ext cx="1563624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  <a:tailEnd type="arrow"/>
          </a:ln>
        </p:spPr>
      </p:sp>
      <p:sp>
        <p:nvSpPr>
          <p:cNvPr id="96" name="Text 85"/>
          <p:cNvSpPr/>
          <p:nvPr/>
        </p:nvSpPr>
        <p:spPr>
          <a:xfrm>
            <a:off x="7109460" y="291693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5A7A9A"/>
                </a:solidFill>
              </a:rPr>
              <a:t>Final Output</a:t>
            </a:r>
            <a:endParaRPr lang="en-US" sz="650" dirty="0"/>
          </a:p>
        </p:txBody>
      </p:sp>
      <p:sp>
        <p:nvSpPr>
          <p:cNvPr id="97" name="Shape 86"/>
          <p:cNvSpPr/>
          <p:nvPr/>
        </p:nvSpPr>
        <p:spPr>
          <a:xfrm>
            <a:off x="8023860" y="2624328"/>
            <a:ext cx="132588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50A0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8" name="Shape 87"/>
          <p:cNvSpPr/>
          <p:nvPr/>
        </p:nvSpPr>
        <p:spPr>
          <a:xfrm>
            <a:off x="8023860" y="2624328"/>
            <a:ext cx="132588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9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3920" y="2715768"/>
            <a:ext cx="365760" cy="365760"/>
          </a:xfrm>
          <a:prstGeom prst="rect">
            <a:avLst/>
          </a:prstGeom>
        </p:spPr>
      </p:pic>
      <p:sp>
        <p:nvSpPr>
          <p:cNvPr id="100" name="Text 88"/>
          <p:cNvSpPr/>
          <p:nvPr/>
        </p:nvSpPr>
        <p:spPr>
          <a:xfrm>
            <a:off x="8078724" y="3099816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B3C"/>
                </a:solidFill>
              </a:rPr>
              <a:t>QA → Embedding</a:t>
            </a:r>
            <a:endParaRPr lang="en-US" sz="850" dirty="0"/>
          </a:p>
        </p:txBody>
      </p:sp>
      <p:sp>
        <p:nvSpPr>
          <p:cNvPr id="101" name="Text 89"/>
          <p:cNvSpPr/>
          <p:nvPr/>
        </p:nvSpPr>
        <p:spPr>
          <a:xfrm>
            <a:off x="8078724" y="3291840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7A9A"/>
                </a:solidFill>
              </a:rPr>
              <a:t>Azure OpenAI</a:t>
            </a:r>
            <a:endParaRPr lang="en-US" sz="700" dirty="0"/>
          </a:p>
        </p:txBody>
      </p:sp>
      <p:sp>
        <p:nvSpPr>
          <p:cNvPr id="102" name="Shape 90"/>
          <p:cNvSpPr/>
          <p:nvPr/>
        </p:nvSpPr>
        <p:spPr>
          <a:xfrm>
            <a:off x="8083296" y="2962656"/>
            <a:ext cx="237744" cy="237744"/>
          </a:xfrm>
          <a:prstGeom prst="ellipse">
            <a:avLst/>
          </a:prstGeom>
          <a:solidFill>
            <a:srgbClr val="003F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3" name="Text 91"/>
          <p:cNvSpPr/>
          <p:nvPr/>
        </p:nvSpPr>
        <p:spPr>
          <a:xfrm>
            <a:off x="8083296" y="29626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104" name="Shape 92"/>
          <p:cNvSpPr/>
          <p:nvPr/>
        </p:nvSpPr>
        <p:spPr>
          <a:xfrm>
            <a:off x="9761220" y="2304288"/>
            <a:ext cx="132588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50A0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5" name="Shape 93"/>
          <p:cNvSpPr/>
          <p:nvPr/>
        </p:nvSpPr>
        <p:spPr>
          <a:xfrm>
            <a:off x="9761220" y="2304288"/>
            <a:ext cx="132588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10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41280" y="2395728"/>
            <a:ext cx="365760" cy="365760"/>
          </a:xfrm>
          <a:prstGeom prst="rect">
            <a:avLst/>
          </a:prstGeom>
        </p:spPr>
      </p:pic>
      <p:sp>
        <p:nvSpPr>
          <p:cNvPr id="107" name="Text 94"/>
          <p:cNvSpPr/>
          <p:nvPr/>
        </p:nvSpPr>
        <p:spPr>
          <a:xfrm>
            <a:off x="9816084" y="2779776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B3C"/>
                </a:solidFill>
              </a:rPr>
              <a:t>Prompt Engineering</a:t>
            </a:r>
            <a:endParaRPr lang="en-US" sz="850" dirty="0"/>
          </a:p>
        </p:txBody>
      </p:sp>
      <p:sp>
        <p:nvSpPr>
          <p:cNvPr id="108" name="Text 95"/>
          <p:cNvSpPr/>
          <p:nvPr/>
        </p:nvSpPr>
        <p:spPr>
          <a:xfrm>
            <a:off x="9816084" y="2971800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7A9A"/>
                </a:solidFill>
              </a:rPr>
              <a:t>Azure SDK</a:t>
            </a:r>
            <a:endParaRPr lang="en-US" sz="700" dirty="0"/>
          </a:p>
        </p:txBody>
      </p:sp>
      <p:sp>
        <p:nvSpPr>
          <p:cNvPr id="109" name="Shape 96"/>
          <p:cNvSpPr/>
          <p:nvPr/>
        </p:nvSpPr>
        <p:spPr>
          <a:xfrm>
            <a:off x="9761220" y="3493008"/>
            <a:ext cx="1325880" cy="914400"/>
          </a:xfrm>
          <a:prstGeom prst="rect">
            <a:avLst/>
          </a:prstGeom>
          <a:solidFill>
            <a:srgbClr val="FFFFFF"/>
          </a:solidFill>
          <a:ln w="15240">
            <a:solidFill>
              <a:srgbClr val="50A0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0" name="Shape 97"/>
          <p:cNvSpPr/>
          <p:nvPr/>
        </p:nvSpPr>
        <p:spPr>
          <a:xfrm>
            <a:off x="9761220" y="3493008"/>
            <a:ext cx="132588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pic>
        <p:nvPicPr>
          <p:cNvPr id="11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41280" y="3584448"/>
            <a:ext cx="365760" cy="365760"/>
          </a:xfrm>
          <a:prstGeom prst="rect">
            <a:avLst/>
          </a:prstGeom>
        </p:spPr>
      </p:pic>
      <p:sp>
        <p:nvSpPr>
          <p:cNvPr id="112" name="Text 98"/>
          <p:cNvSpPr/>
          <p:nvPr/>
        </p:nvSpPr>
        <p:spPr>
          <a:xfrm>
            <a:off x="9816084" y="3968496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B3C"/>
                </a:solidFill>
              </a:rPr>
              <a:t>Context</a:t>
            </a:r>
            <a:endParaRPr lang="en-US" sz="850" dirty="0"/>
          </a:p>
        </p:txBody>
      </p:sp>
      <p:sp>
        <p:nvSpPr>
          <p:cNvPr id="113" name="Text 99"/>
          <p:cNvSpPr/>
          <p:nvPr/>
        </p:nvSpPr>
        <p:spPr>
          <a:xfrm>
            <a:off x="9816084" y="4160520"/>
            <a:ext cx="1216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7A9A"/>
                </a:solidFill>
              </a:rPr>
              <a:t>Retrieval</a:t>
            </a:r>
            <a:endParaRPr lang="en-US" sz="700" dirty="0"/>
          </a:p>
        </p:txBody>
      </p:sp>
      <p:sp>
        <p:nvSpPr>
          <p:cNvPr id="114" name="Shape 100"/>
          <p:cNvSpPr/>
          <p:nvPr/>
        </p:nvSpPr>
        <p:spPr>
          <a:xfrm>
            <a:off x="9912096" y="3831336"/>
            <a:ext cx="237744" cy="237744"/>
          </a:xfrm>
          <a:prstGeom prst="ellipse">
            <a:avLst/>
          </a:prstGeom>
          <a:solidFill>
            <a:srgbClr val="003F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5" name="Text 101"/>
          <p:cNvSpPr/>
          <p:nvPr/>
        </p:nvSpPr>
        <p:spPr>
          <a:xfrm>
            <a:off x="9912096" y="38313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116" name="Text 102"/>
          <p:cNvSpPr/>
          <p:nvPr/>
        </p:nvSpPr>
        <p:spPr>
          <a:xfrm>
            <a:off x="8686800" y="378561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7A9A"/>
                </a:solidFill>
              </a:rPr>
              <a:t>Context</a:t>
            </a:r>
            <a:endParaRPr lang="en-US" sz="700" dirty="0"/>
          </a:p>
        </p:txBody>
      </p:sp>
      <p:sp>
        <p:nvSpPr>
          <p:cNvPr id="117" name="Shape 103"/>
          <p:cNvSpPr/>
          <p:nvPr/>
        </p:nvSpPr>
        <p:spPr>
          <a:xfrm>
            <a:off x="8567928" y="3538728"/>
            <a:ext cx="237744" cy="237744"/>
          </a:xfrm>
          <a:prstGeom prst="ellipse">
            <a:avLst/>
          </a:prstGeom>
          <a:solidFill>
            <a:srgbClr val="003F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8" name="Text 104"/>
          <p:cNvSpPr/>
          <p:nvPr/>
        </p:nvSpPr>
        <p:spPr>
          <a:xfrm>
            <a:off x="8567928" y="35387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9</a:t>
            </a:r>
            <a:endParaRPr lang="en-US" sz="800" dirty="0"/>
          </a:p>
        </p:txBody>
      </p:sp>
      <p:sp>
        <p:nvSpPr>
          <p:cNvPr id="119" name="Shape 105"/>
          <p:cNvSpPr/>
          <p:nvPr/>
        </p:nvSpPr>
        <p:spPr>
          <a:xfrm>
            <a:off x="11475720" y="1115568"/>
            <a:ext cx="566928" cy="822960"/>
          </a:xfrm>
          <a:prstGeom prst="rect">
            <a:avLst/>
          </a:prstGeom>
          <a:solidFill>
            <a:srgbClr val="E8F4FD"/>
          </a:solidFill>
          <a:ln w="12700">
            <a:solidFill>
              <a:srgbClr val="50A0D8"/>
            </a:solidFill>
            <a:prstDash val="solid"/>
          </a:ln>
        </p:spPr>
      </p:sp>
      <p:sp>
        <p:nvSpPr>
          <p:cNvPr id="120" name="Text 106"/>
          <p:cNvSpPr/>
          <p:nvPr/>
        </p:nvSpPr>
        <p:spPr>
          <a:xfrm>
            <a:off x="11475720" y="113385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21" name="Text 107"/>
          <p:cNvSpPr/>
          <p:nvPr/>
        </p:nvSpPr>
        <p:spPr>
          <a:xfrm>
            <a:off x="11475720" y="149961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2B3C"/>
                </a:solidFill>
              </a:rPr>
              <a:t>End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A2B3C"/>
                </a:solidFill>
              </a:rPr>
              <a:t>User</a:t>
            </a:r>
            <a:endParaRPr lang="en-US" sz="700" dirty="0"/>
          </a:p>
        </p:txBody>
      </p:sp>
      <p:sp>
        <p:nvSpPr>
          <p:cNvPr id="122" name="Text 108"/>
          <p:cNvSpPr/>
          <p:nvPr/>
        </p:nvSpPr>
        <p:spPr>
          <a:xfrm>
            <a:off x="11448288" y="20756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💻  📱</a:t>
            </a:r>
            <a:endParaRPr lang="en-US" sz="1000" dirty="0"/>
          </a:p>
        </p:txBody>
      </p:sp>
      <p:sp>
        <p:nvSpPr>
          <p:cNvPr id="123" name="Shape 109"/>
          <p:cNvSpPr/>
          <p:nvPr/>
        </p:nvSpPr>
        <p:spPr>
          <a:xfrm>
            <a:off x="9985248" y="1664208"/>
            <a:ext cx="1490472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  <a:tailEnd type="arrow"/>
          </a:ln>
        </p:spPr>
      </p:sp>
      <p:sp>
        <p:nvSpPr>
          <p:cNvPr id="124" name="Shape 110"/>
          <p:cNvSpPr/>
          <p:nvPr/>
        </p:nvSpPr>
        <p:spPr>
          <a:xfrm>
            <a:off x="10620756" y="1554480"/>
            <a:ext cx="219456" cy="219456"/>
          </a:xfrm>
          <a:prstGeom prst="ellipse">
            <a:avLst/>
          </a:prstGeom>
          <a:solidFill>
            <a:srgbClr val="0078D4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25" name="Text 111"/>
          <p:cNvSpPr/>
          <p:nvPr/>
        </p:nvSpPr>
        <p:spPr>
          <a:xfrm>
            <a:off x="10620756" y="15544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126" name="Shape 112"/>
          <p:cNvSpPr/>
          <p:nvPr/>
        </p:nvSpPr>
        <p:spPr>
          <a:xfrm>
            <a:off x="1627632" y="3081528"/>
            <a:ext cx="50292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  <a:tailEnd type="arrow"/>
          </a:ln>
        </p:spPr>
      </p:sp>
      <p:sp>
        <p:nvSpPr>
          <p:cNvPr id="127" name="Shape 113"/>
          <p:cNvSpPr/>
          <p:nvPr/>
        </p:nvSpPr>
        <p:spPr>
          <a:xfrm>
            <a:off x="4370832" y="4590288"/>
            <a:ext cx="905256" cy="-2697480"/>
          </a:xfrm>
          <a:prstGeom prst="line">
            <a:avLst/>
          </a:prstGeom>
          <a:noFill/>
          <a:ln w="15240">
            <a:solidFill>
              <a:srgbClr val="50A0D8"/>
            </a:solidFill>
            <a:prstDash val="dash"/>
            <a:tailEnd type="arrow"/>
          </a:ln>
        </p:spPr>
      </p:sp>
      <p:sp>
        <p:nvSpPr>
          <p:cNvPr id="128" name="Shape 114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F0F4F8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129" name="Text 115"/>
          <p:cNvSpPr/>
          <p:nvPr/>
        </p:nvSpPr>
        <p:spPr>
          <a:xfrm>
            <a:off x="274320" y="6611112"/>
            <a:ext cx="1161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7A9A"/>
                </a:solidFill>
              </a:rPr>
              <a:t>Flow: ① File Upload  →  ② Blob Storage  →  ③ Data Factory / Chunking  →  ④ Vector Store  →  ⑦ Similarity Search  →  ⑩ GPT-4o  →  Final Output  →  ⑤ App Service  →  End User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03F6B"/>
          </a:solidFill>
          <a:ln w="12700">
            <a:solidFill>
              <a:srgbClr val="003F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5486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SERVICES REQUIRED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0" y="7315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35440" y="1645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8C8E8"/>
                </a:solidFill>
              </a:rPr>
              <a:t>AWS → Azure Mapping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37160" y="658368"/>
            <a:ext cx="2834640" cy="59893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7160" y="658368"/>
            <a:ext cx="2834640" cy="402336"/>
          </a:xfrm>
          <a:prstGeom prst="rect">
            <a:avLst/>
          </a:prstGeom>
          <a:solidFill>
            <a:srgbClr val="003F6B"/>
          </a:solidFill>
          <a:ln w="12700">
            <a:solidFill>
              <a:srgbClr val="003F6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70408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65836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Storage &amp; Ingestion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28600" y="1152144"/>
            <a:ext cx="2651760" cy="1719072"/>
          </a:xfrm>
          <a:prstGeom prst="rect">
            <a:avLst/>
          </a:prstGeom>
          <a:solidFill>
            <a:srgbClr val="FFFFFF"/>
          </a:solidFill>
          <a:ln w="10160">
            <a:solidFill>
              <a:srgbClr val="50A0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28600" y="1152144"/>
            <a:ext cx="54864" cy="17190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38328" y="1298448"/>
            <a:ext cx="411480" cy="411480"/>
          </a:xfrm>
          <a:prstGeom prst="ellipse">
            <a:avLst/>
          </a:prstGeom>
          <a:solidFill>
            <a:srgbClr val="E8F4FD"/>
          </a:solidFill>
          <a:ln w="10160">
            <a:solidFill>
              <a:srgbClr val="50A0D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344168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4672" y="1207008"/>
            <a:ext cx="1984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</a:rPr>
              <a:t>Azure Blob Storage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301752" y="1755648"/>
            <a:ext cx="2505456" cy="0"/>
          </a:xfrm>
          <a:prstGeom prst="line">
            <a:avLst/>
          </a:prstGeom>
          <a:noFill/>
          <a:ln w="6350">
            <a:solidFill>
              <a:srgbClr val="D0DDE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01752" y="1828800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A7A9A"/>
                </a:solidFill>
              </a:rPr>
              <a:t>Stores PDF, Excel, and document files (replaces AWS S3)</a:t>
            </a:r>
            <a:endParaRPr lang="en-US" sz="820" dirty="0"/>
          </a:p>
        </p:txBody>
      </p:sp>
      <p:sp>
        <p:nvSpPr>
          <p:cNvPr id="18" name="Shape 13"/>
          <p:cNvSpPr/>
          <p:nvPr/>
        </p:nvSpPr>
        <p:spPr>
          <a:xfrm>
            <a:off x="228600" y="2999232"/>
            <a:ext cx="2651760" cy="1719072"/>
          </a:xfrm>
          <a:prstGeom prst="rect">
            <a:avLst/>
          </a:prstGeom>
          <a:solidFill>
            <a:srgbClr val="FFFFFF"/>
          </a:solidFill>
          <a:ln w="10160">
            <a:solidFill>
              <a:srgbClr val="50A0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28600" y="2999232"/>
            <a:ext cx="54864" cy="17190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38328" y="3145536"/>
            <a:ext cx="411480" cy="411480"/>
          </a:xfrm>
          <a:prstGeom prst="ellipse">
            <a:avLst/>
          </a:prstGeom>
          <a:solidFill>
            <a:srgbClr val="E8F4FD"/>
          </a:solidFill>
          <a:ln w="10160">
            <a:solidFill>
              <a:srgbClr val="50A0D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191256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3054096"/>
            <a:ext cx="1984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</a:rPr>
              <a:t>Azure API Management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301752" y="3602736"/>
            <a:ext cx="2505456" cy="0"/>
          </a:xfrm>
          <a:prstGeom prst="line">
            <a:avLst/>
          </a:prstGeom>
          <a:noFill/>
          <a:ln w="6350">
            <a:solidFill>
              <a:srgbClr val="D0DDE8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301752" y="3675888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A7A9A"/>
                </a:solidFill>
              </a:rPr>
              <a:t>Secure ingestion endpoints and API gateway (replaces API GW)</a:t>
            </a:r>
            <a:endParaRPr lang="en-US" sz="820" dirty="0"/>
          </a:p>
        </p:txBody>
      </p:sp>
      <p:sp>
        <p:nvSpPr>
          <p:cNvPr id="25" name="Shape 19"/>
          <p:cNvSpPr/>
          <p:nvPr/>
        </p:nvSpPr>
        <p:spPr>
          <a:xfrm>
            <a:off x="228600" y="4846320"/>
            <a:ext cx="2651760" cy="1719072"/>
          </a:xfrm>
          <a:prstGeom prst="rect">
            <a:avLst/>
          </a:prstGeom>
          <a:solidFill>
            <a:srgbClr val="FFFFFF"/>
          </a:solidFill>
          <a:ln w="10160">
            <a:solidFill>
              <a:srgbClr val="50A0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228600" y="4846320"/>
            <a:ext cx="54864" cy="17190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38328" y="4992624"/>
            <a:ext cx="411480" cy="411480"/>
          </a:xfrm>
          <a:prstGeom prst="ellipse">
            <a:avLst/>
          </a:prstGeom>
          <a:solidFill>
            <a:srgbClr val="E8F4FD"/>
          </a:solidFill>
          <a:ln w="10160">
            <a:solidFill>
              <a:srgbClr val="50A0D8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5038344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04672" y="4901184"/>
            <a:ext cx="1984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</a:rPr>
              <a:t>Azure Event Grid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301752" y="5449824"/>
            <a:ext cx="2505456" cy="0"/>
          </a:xfrm>
          <a:prstGeom prst="line">
            <a:avLst/>
          </a:prstGeom>
          <a:noFill/>
          <a:ln w="6350">
            <a:solidFill>
              <a:srgbClr val="D0DDE8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301752" y="5522976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A7A9A"/>
                </a:solidFill>
              </a:rPr>
              <a:t>Event-driven triggers on blob uploads (replaces EventBridge)</a:t>
            </a:r>
            <a:endParaRPr lang="en-US" sz="820" dirty="0"/>
          </a:p>
        </p:txBody>
      </p:sp>
      <p:sp>
        <p:nvSpPr>
          <p:cNvPr id="32" name="Shape 25"/>
          <p:cNvSpPr/>
          <p:nvPr/>
        </p:nvSpPr>
        <p:spPr>
          <a:xfrm>
            <a:off x="3108960" y="658368"/>
            <a:ext cx="2834640" cy="59893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3108960" y="658368"/>
            <a:ext cx="2834640" cy="402336"/>
          </a:xfrm>
          <a:prstGeom prst="rect">
            <a:avLst/>
          </a:prstGeom>
          <a:solidFill>
            <a:srgbClr val="003F6B"/>
          </a:solidFill>
          <a:ln w="12700">
            <a:solidFill>
              <a:srgbClr val="003F6B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2112" y="704088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520440" y="65836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Processing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3200400" y="1152144"/>
            <a:ext cx="2651760" cy="1719072"/>
          </a:xfrm>
          <a:prstGeom prst="rect">
            <a:avLst/>
          </a:prstGeom>
          <a:solidFill>
            <a:srgbClr val="FFFFFF"/>
          </a:solidFill>
          <a:ln w="10160">
            <a:solidFill>
              <a:srgbClr val="50A0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3200400" y="1152144"/>
            <a:ext cx="54864" cy="17190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3310128" y="1298448"/>
            <a:ext cx="411480" cy="411480"/>
          </a:xfrm>
          <a:prstGeom prst="ellipse">
            <a:avLst/>
          </a:prstGeom>
          <a:solidFill>
            <a:srgbClr val="E8F4FD"/>
          </a:solidFill>
          <a:ln w="10160">
            <a:solidFill>
              <a:srgbClr val="50A0D8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5848" y="1344168"/>
            <a:ext cx="320040" cy="32004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3776472" y="1207008"/>
            <a:ext cx="1984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</a:rPr>
              <a:t>Azure Data Factory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3273552" y="1755648"/>
            <a:ext cx="2505456" cy="0"/>
          </a:xfrm>
          <a:prstGeom prst="line">
            <a:avLst/>
          </a:prstGeom>
          <a:noFill/>
          <a:ln w="6350">
            <a:solidFill>
              <a:srgbClr val="D0DDE8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3273552" y="1828800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A7A9A"/>
                </a:solidFill>
              </a:rPr>
              <a:t>Orchestrates ETL pipeline and data workflows (replaces LangChain)</a:t>
            </a:r>
            <a:endParaRPr lang="en-US" sz="820" dirty="0"/>
          </a:p>
        </p:txBody>
      </p:sp>
      <p:sp>
        <p:nvSpPr>
          <p:cNvPr id="43" name="Shape 34"/>
          <p:cNvSpPr/>
          <p:nvPr/>
        </p:nvSpPr>
        <p:spPr>
          <a:xfrm>
            <a:off x="3200400" y="2999232"/>
            <a:ext cx="2651760" cy="1719072"/>
          </a:xfrm>
          <a:prstGeom prst="rect">
            <a:avLst/>
          </a:prstGeom>
          <a:solidFill>
            <a:srgbClr val="FFFFFF"/>
          </a:solidFill>
          <a:ln w="10160">
            <a:solidFill>
              <a:srgbClr val="50A0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44" name="Shape 35"/>
          <p:cNvSpPr/>
          <p:nvPr/>
        </p:nvSpPr>
        <p:spPr>
          <a:xfrm>
            <a:off x="3200400" y="2999232"/>
            <a:ext cx="54864" cy="17190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3310128" y="3145536"/>
            <a:ext cx="411480" cy="411480"/>
          </a:xfrm>
          <a:prstGeom prst="ellipse">
            <a:avLst/>
          </a:prstGeom>
          <a:solidFill>
            <a:srgbClr val="E8F4FD"/>
          </a:solidFill>
          <a:ln w="10160">
            <a:solidFill>
              <a:srgbClr val="50A0D8"/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5848" y="3191256"/>
            <a:ext cx="320040" cy="32004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3776472" y="3054096"/>
            <a:ext cx="1984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</a:rPr>
              <a:t>Azure Document Intelligence</a:t>
            </a:r>
            <a:endParaRPr lang="en-US" sz="950" dirty="0"/>
          </a:p>
        </p:txBody>
      </p:sp>
      <p:sp>
        <p:nvSpPr>
          <p:cNvPr id="48" name="Shape 38"/>
          <p:cNvSpPr/>
          <p:nvPr/>
        </p:nvSpPr>
        <p:spPr>
          <a:xfrm>
            <a:off x="3273552" y="3602736"/>
            <a:ext cx="2505456" cy="0"/>
          </a:xfrm>
          <a:prstGeom prst="line">
            <a:avLst/>
          </a:prstGeom>
          <a:noFill/>
          <a:ln w="6350">
            <a:solidFill>
              <a:srgbClr val="D0DDE8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3273552" y="3675888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A7A9A"/>
                </a:solidFill>
              </a:rPr>
              <a:t>Text splitting &amp; chunking from documents (replaces LangChain Chunking)</a:t>
            </a:r>
            <a:endParaRPr lang="en-US" sz="820" dirty="0"/>
          </a:p>
        </p:txBody>
      </p:sp>
      <p:sp>
        <p:nvSpPr>
          <p:cNvPr id="50" name="Shape 40"/>
          <p:cNvSpPr/>
          <p:nvPr/>
        </p:nvSpPr>
        <p:spPr>
          <a:xfrm>
            <a:off x="3200400" y="4846320"/>
            <a:ext cx="2651760" cy="1719072"/>
          </a:xfrm>
          <a:prstGeom prst="rect">
            <a:avLst/>
          </a:prstGeom>
          <a:solidFill>
            <a:srgbClr val="FFFFFF"/>
          </a:solidFill>
          <a:ln w="10160">
            <a:solidFill>
              <a:srgbClr val="50A0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51" name="Shape 41"/>
          <p:cNvSpPr/>
          <p:nvPr/>
        </p:nvSpPr>
        <p:spPr>
          <a:xfrm>
            <a:off x="3200400" y="4846320"/>
            <a:ext cx="54864" cy="17190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2" name="Shape 42"/>
          <p:cNvSpPr/>
          <p:nvPr/>
        </p:nvSpPr>
        <p:spPr>
          <a:xfrm>
            <a:off x="3310128" y="4992624"/>
            <a:ext cx="411480" cy="411480"/>
          </a:xfrm>
          <a:prstGeom prst="ellipse">
            <a:avLst/>
          </a:prstGeom>
          <a:solidFill>
            <a:srgbClr val="E8F4FD"/>
          </a:solidFill>
          <a:ln w="10160">
            <a:solidFill>
              <a:srgbClr val="50A0D8"/>
            </a:solidFill>
            <a:prstDash val="solid"/>
          </a:ln>
        </p:spPr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55848" y="5038344"/>
            <a:ext cx="320040" cy="320040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3776472" y="4901184"/>
            <a:ext cx="1984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</a:rPr>
              <a:t>Azure AI Search (Vector Index)</a:t>
            </a:r>
            <a:endParaRPr lang="en-US" sz="950" dirty="0"/>
          </a:p>
        </p:txBody>
      </p:sp>
      <p:sp>
        <p:nvSpPr>
          <p:cNvPr id="55" name="Shape 44"/>
          <p:cNvSpPr/>
          <p:nvPr/>
        </p:nvSpPr>
        <p:spPr>
          <a:xfrm>
            <a:off x="3273552" y="5449824"/>
            <a:ext cx="2505456" cy="0"/>
          </a:xfrm>
          <a:prstGeom prst="line">
            <a:avLst/>
          </a:prstGeom>
          <a:noFill/>
          <a:ln w="6350">
            <a:solidFill>
              <a:srgbClr val="D0DDE8"/>
            </a:solidFill>
            <a:prstDash val="solid"/>
          </a:ln>
        </p:spPr>
      </p:sp>
      <p:sp>
        <p:nvSpPr>
          <p:cNvPr id="56" name="Text 45"/>
          <p:cNvSpPr/>
          <p:nvPr/>
        </p:nvSpPr>
        <p:spPr>
          <a:xfrm>
            <a:off x="3273552" y="5522976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A7A9A"/>
                </a:solidFill>
              </a:rPr>
              <a:t>Full-text + vector similarity search with HNSW (replaces OpenSearch)</a:t>
            </a:r>
            <a:endParaRPr lang="en-US" sz="820" dirty="0"/>
          </a:p>
        </p:txBody>
      </p:sp>
      <p:sp>
        <p:nvSpPr>
          <p:cNvPr id="57" name="Shape 46"/>
          <p:cNvSpPr/>
          <p:nvPr/>
        </p:nvSpPr>
        <p:spPr>
          <a:xfrm>
            <a:off x="6080760" y="658368"/>
            <a:ext cx="2834640" cy="59893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58" name="Shape 47"/>
          <p:cNvSpPr/>
          <p:nvPr/>
        </p:nvSpPr>
        <p:spPr>
          <a:xfrm>
            <a:off x="6080760" y="658368"/>
            <a:ext cx="2834640" cy="402336"/>
          </a:xfrm>
          <a:prstGeom prst="rect">
            <a:avLst/>
          </a:prstGeom>
          <a:solidFill>
            <a:srgbClr val="003F6B"/>
          </a:solidFill>
          <a:ln w="12700">
            <a:solidFill>
              <a:srgbClr val="003F6B"/>
            </a:solidFill>
            <a:prstDash val="solid"/>
          </a:ln>
        </p:spPr>
      </p:sp>
      <p:pic>
        <p:nvPicPr>
          <p:cNvPr id="5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53912" y="704088"/>
            <a:ext cx="274320" cy="274320"/>
          </a:xfrm>
          <a:prstGeom prst="rect">
            <a:avLst/>
          </a:prstGeom>
        </p:spPr>
      </p:pic>
      <p:sp>
        <p:nvSpPr>
          <p:cNvPr id="60" name="Text 48"/>
          <p:cNvSpPr/>
          <p:nvPr/>
        </p:nvSpPr>
        <p:spPr>
          <a:xfrm>
            <a:off x="6492240" y="65836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/ ML Platform</a:t>
            </a:r>
            <a:endParaRPr lang="en-US" sz="1000" dirty="0"/>
          </a:p>
        </p:txBody>
      </p:sp>
      <p:sp>
        <p:nvSpPr>
          <p:cNvPr id="61" name="Shape 49"/>
          <p:cNvSpPr/>
          <p:nvPr/>
        </p:nvSpPr>
        <p:spPr>
          <a:xfrm>
            <a:off x="6172200" y="1152144"/>
            <a:ext cx="2651760" cy="1719072"/>
          </a:xfrm>
          <a:prstGeom prst="rect">
            <a:avLst/>
          </a:prstGeom>
          <a:solidFill>
            <a:srgbClr val="FFFFFF"/>
          </a:solidFill>
          <a:ln w="10160">
            <a:solidFill>
              <a:srgbClr val="50A0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2" name="Shape 50"/>
          <p:cNvSpPr/>
          <p:nvPr/>
        </p:nvSpPr>
        <p:spPr>
          <a:xfrm>
            <a:off x="6172200" y="1152144"/>
            <a:ext cx="54864" cy="17190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3" name="Shape 51"/>
          <p:cNvSpPr/>
          <p:nvPr/>
        </p:nvSpPr>
        <p:spPr>
          <a:xfrm>
            <a:off x="6281928" y="1298448"/>
            <a:ext cx="411480" cy="411480"/>
          </a:xfrm>
          <a:prstGeom prst="ellipse">
            <a:avLst/>
          </a:prstGeom>
          <a:solidFill>
            <a:srgbClr val="E8F4FD"/>
          </a:solidFill>
          <a:ln w="10160">
            <a:solidFill>
              <a:srgbClr val="50A0D8"/>
            </a:solidFill>
            <a:prstDash val="solid"/>
          </a:ln>
        </p:spPr>
      </p:sp>
      <p:pic>
        <p:nvPicPr>
          <p:cNvPr id="6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7648" y="1344168"/>
            <a:ext cx="320040" cy="320040"/>
          </a:xfrm>
          <a:prstGeom prst="rect">
            <a:avLst/>
          </a:prstGeom>
        </p:spPr>
      </p:pic>
      <p:sp>
        <p:nvSpPr>
          <p:cNvPr id="65" name="Text 52"/>
          <p:cNvSpPr/>
          <p:nvPr/>
        </p:nvSpPr>
        <p:spPr>
          <a:xfrm>
            <a:off x="6748272" y="1207008"/>
            <a:ext cx="1984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</a:rPr>
              <a:t>Azure OpenAI – Ada Embeddings</a:t>
            </a:r>
            <a:endParaRPr lang="en-US" sz="950" dirty="0"/>
          </a:p>
        </p:txBody>
      </p:sp>
      <p:sp>
        <p:nvSpPr>
          <p:cNvPr id="66" name="Shape 53"/>
          <p:cNvSpPr/>
          <p:nvPr/>
        </p:nvSpPr>
        <p:spPr>
          <a:xfrm>
            <a:off x="6245352" y="1755648"/>
            <a:ext cx="2505456" cy="0"/>
          </a:xfrm>
          <a:prstGeom prst="line">
            <a:avLst/>
          </a:prstGeom>
          <a:noFill/>
          <a:ln w="6350">
            <a:solidFill>
              <a:srgbClr val="D0DDE8"/>
            </a:solidFill>
            <a:prstDash val="solid"/>
          </a:ln>
        </p:spPr>
      </p:sp>
      <p:sp>
        <p:nvSpPr>
          <p:cNvPr id="67" name="Text 54"/>
          <p:cNvSpPr/>
          <p:nvPr/>
        </p:nvSpPr>
        <p:spPr>
          <a:xfrm>
            <a:off x="6245352" y="1828800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A7A9A"/>
                </a:solidFill>
              </a:rPr>
              <a:t>Generates vector embeddings for document chunks (replaces Bedrock Embeddings)</a:t>
            </a:r>
            <a:endParaRPr lang="en-US" sz="820" dirty="0"/>
          </a:p>
        </p:txBody>
      </p:sp>
      <p:sp>
        <p:nvSpPr>
          <p:cNvPr id="68" name="Shape 55"/>
          <p:cNvSpPr/>
          <p:nvPr/>
        </p:nvSpPr>
        <p:spPr>
          <a:xfrm>
            <a:off x="6172200" y="2999232"/>
            <a:ext cx="2651760" cy="1719072"/>
          </a:xfrm>
          <a:prstGeom prst="rect">
            <a:avLst/>
          </a:prstGeom>
          <a:solidFill>
            <a:srgbClr val="FFFFFF"/>
          </a:solidFill>
          <a:ln w="10160">
            <a:solidFill>
              <a:srgbClr val="50A0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9" name="Shape 56"/>
          <p:cNvSpPr/>
          <p:nvPr/>
        </p:nvSpPr>
        <p:spPr>
          <a:xfrm>
            <a:off x="6172200" y="2999232"/>
            <a:ext cx="54864" cy="17190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0" name="Shape 57"/>
          <p:cNvSpPr/>
          <p:nvPr/>
        </p:nvSpPr>
        <p:spPr>
          <a:xfrm>
            <a:off x="6281928" y="3145536"/>
            <a:ext cx="411480" cy="411480"/>
          </a:xfrm>
          <a:prstGeom prst="ellipse">
            <a:avLst/>
          </a:prstGeom>
          <a:solidFill>
            <a:srgbClr val="E8F4FD"/>
          </a:solidFill>
          <a:ln w="10160">
            <a:solidFill>
              <a:srgbClr val="50A0D8"/>
            </a:solidFill>
            <a:prstDash val="solid"/>
          </a:ln>
        </p:spPr>
      </p:sp>
      <p:pic>
        <p:nvPicPr>
          <p:cNvPr id="7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7648" y="3191256"/>
            <a:ext cx="320040" cy="320040"/>
          </a:xfrm>
          <a:prstGeom prst="rect">
            <a:avLst/>
          </a:prstGeom>
        </p:spPr>
      </p:pic>
      <p:sp>
        <p:nvSpPr>
          <p:cNvPr id="72" name="Text 58"/>
          <p:cNvSpPr/>
          <p:nvPr/>
        </p:nvSpPr>
        <p:spPr>
          <a:xfrm>
            <a:off x="6748272" y="3054096"/>
            <a:ext cx="1984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</a:rPr>
              <a:t>Azure OpenAI – GPT-4o / GPT-4 Turbo</a:t>
            </a:r>
            <a:endParaRPr lang="en-US" sz="950" dirty="0"/>
          </a:p>
        </p:txBody>
      </p:sp>
      <p:sp>
        <p:nvSpPr>
          <p:cNvPr id="73" name="Shape 59"/>
          <p:cNvSpPr/>
          <p:nvPr/>
        </p:nvSpPr>
        <p:spPr>
          <a:xfrm>
            <a:off x="6245352" y="3602736"/>
            <a:ext cx="2505456" cy="0"/>
          </a:xfrm>
          <a:prstGeom prst="line">
            <a:avLst/>
          </a:prstGeom>
          <a:noFill/>
          <a:ln w="6350">
            <a:solidFill>
              <a:srgbClr val="D0DDE8"/>
            </a:solidFill>
            <a:prstDash val="solid"/>
          </a:ln>
        </p:spPr>
      </p:sp>
      <p:sp>
        <p:nvSpPr>
          <p:cNvPr id="74" name="Text 60"/>
          <p:cNvSpPr/>
          <p:nvPr/>
        </p:nvSpPr>
        <p:spPr>
          <a:xfrm>
            <a:off x="6245352" y="3675888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A7A9A"/>
                </a:solidFill>
              </a:rPr>
              <a:t>LLM for final answer generation (replaces Bedrock Text Gen)</a:t>
            </a:r>
            <a:endParaRPr lang="en-US" sz="820" dirty="0"/>
          </a:p>
        </p:txBody>
      </p:sp>
      <p:sp>
        <p:nvSpPr>
          <p:cNvPr id="75" name="Shape 61"/>
          <p:cNvSpPr/>
          <p:nvPr/>
        </p:nvSpPr>
        <p:spPr>
          <a:xfrm>
            <a:off x="6172200" y="4846320"/>
            <a:ext cx="2651760" cy="1719072"/>
          </a:xfrm>
          <a:prstGeom prst="rect">
            <a:avLst/>
          </a:prstGeom>
          <a:solidFill>
            <a:srgbClr val="FFFFFF"/>
          </a:solidFill>
          <a:ln w="10160">
            <a:solidFill>
              <a:srgbClr val="50A0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76" name="Shape 62"/>
          <p:cNvSpPr/>
          <p:nvPr/>
        </p:nvSpPr>
        <p:spPr>
          <a:xfrm>
            <a:off x="6172200" y="4846320"/>
            <a:ext cx="54864" cy="17190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7" name="Shape 63"/>
          <p:cNvSpPr/>
          <p:nvPr/>
        </p:nvSpPr>
        <p:spPr>
          <a:xfrm>
            <a:off x="6281928" y="4992624"/>
            <a:ext cx="411480" cy="411480"/>
          </a:xfrm>
          <a:prstGeom prst="ellipse">
            <a:avLst/>
          </a:prstGeom>
          <a:solidFill>
            <a:srgbClr val="E8F4FD"/>
          </a:solidFill>
          <a:ln w="10160">
            <a:solidFill>
              <a:srgbClr val="50A0D8"/>
            </a:solidFill>
            <a:prstDash val="solid"/>
          </a:ln>
        </p:spPr>
      </p:sp>
      <p:pic>
        <p:nvPicPr>
          <p:cNvPr id="7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7648" y="5038344"/>
            <a:ext cx="320040" cy="320040"/>
          </a:xfrm>
          <a:prstGeom prst="rect">
            <a:avLst/>
          </a:prstGeom>
        </p:spPr>
      </p:pic>
      <p:sp>
        <p:nvSpPr>
          <p:cNvPr id="79" name="Text 64"/>
          <p:cNvSpPr/>
          <p:nvPr/>
        </p:nvSpPr>
        <p:spPr>
          <a:xfrm>
            <a:off x="6748272" y="4901184"/>
            <a:ext cx="1984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</a:rPr>
              <a:t>Azure AI Foundry / Prompt Flow</a:t>
            </a:r>
            <a:endParaRPr lang="en-US" sz="950" dirty="0"/>
          </a:p>
        </p:txBody>
      </p:sp>
      <p:sp>
        <p:nvSpPr>
          <p:cNvPr id="80" name="Shape 65"/>
          <p:cNvSpPr/>
          <p:nvPr/>
        </p:nvSpPr>
        <p:spPr>
          <a:xfrm>
            <a:off x="6245352" y="5449824"/>
            <a:ext cx="2505456" cy="0"/>
          </a:xfrm>
          <a:prstGeom prst="line">
            <a:avLst/>
          </a:prstGeom>
          <a:noFill/>
          <a:ln w="6350">
            <a:solidFill>
              <a:srgbClr val="D0DDE8"/>
            </a:solidFill>
            <a:prstDash val="solid"/>
          </a:ln>
        </p:spPr>
      </p:sp>
      <p:sp>
        <p:nvSpPr>
          <p:cNvPr id="81" name="Text 66"/>
          <p:cNvSpPr/>
          <p:nvPr/>
        </p:nvSpPr>
        <p:spPr>
          <a:xfrm>
            <a:off x="6245352" y="5522976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A7A9A"/>
                </a:solidFill>
              </a:rPr>
              <a:t>Prompt engineering and LLM orchestration (replaces Bedrock orchestration)</a:t>
            </a:r>
            <a:endParaRPr lang="en-US" sz="820" dirty="0"/>
          </a:p>
        </p:txBody>
      </p:sp>
      <p:sp>
        <p:nvSpPr>
          <p:cNvPr id="82" name="Shape 67"/>
          <p:cNvSpPr/>
          <p:nvPr/>
        </p:nvSpPr>
        <p:spPr>
          <a:xfrm>
            <a:off x="9052560" y="658368"/>
            <a:ext cx="2834640" cy="598932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83" name="Shape 68"/>
          <p:cNvSpPr/>
          <p:nvPr/>
        </p:nvSpPr>
        <p:spPr>
          <a:xfrm>
            <a:off x="9052560" y="658368"/>
            <a:ext cx="2834640" cy="402336"/>
          </a:xfrm>
          <a:prstGeom prst="rect">
            <a:avLst/>
          </a:prstGeom>
          <a:solidFill>
            <a:srgbClr val="003F6B"/>
          </a:solidFill>
          <a:ln w="12700">
            <a:solidFill>
              <a:srgbClr val="003F6B"/>
            </a:solidFill>
            <a:prstDash val="solid"/>
          </a:ln>
        </p:spPr>
      </p:sp>
      <p:pic>
        <p:nvPicPr>
          <p:cNvPr id="8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25712" y="704088"/>
            <a:ext cx="274320" cy="274320"/>
          </a:xfrm>
          <a:prstGeom prst="rect">
            <a:avLst/>
          </a:prstGeom>
        </p:spPr>
      </p:pic>
      <p:sp>
        <p:nvSpPr>
          <p:cNvPr id="85" name="Text 69"/>
          <p:cNvSpPr/>
          <p:nvPr/>
        </p:nvSpPr>
        <p:spPr>
          <a:xfrm>
            <a:off x="9464040" y="65836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Deployment &amp; Security</a:t>
            </a:r>
            <a:endParaRPr lang="en-US" sz="1000" dirty="0"/>
          </a:p>
        </p:txBody>
      </p:sp>
      <p:sp>
        <p:nvSpPr>
          <p:cNvPr id="86" name="Shape 70"/>
          <p:cNvSpPr/>
          <p:nvPr/>
        </p:nvSpPr>
        <p:spPr>
          <a:xfrm>
            <a:off x="9144000" y="1152144"/>
            <a:ext cx="2651760" cy="1719072"/>
          </a:xfrm>
          <a:prstGeom prst="rect">
            <a:avLst/>
          </a:prstGeom>
          <a:solidFill>
            <a:srgbClr val="FFFFFF"/>
          </a:solidFill>
          <a:ln w="10160">
            <a:solidFill>
              <a:srgbClr val="50A0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87" name="Shape 71"/>
          <p:cNvSpPr/>
          <p:nvPr/>
        </p:nvSpPr>
        <p:spPr>
          <a:xfrm>
            <a:off x="9144000" y="1152144"/>
            <a:ext cx="54864" cy="17190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8" name="Shape 72"/>
          <p:cNvSpPr/>
          <p:nvPr/>
        </p:nvSpPr>
        <p:spPr>
          <a:xfrm>
            <a:off x="9253728" y="1298448"/>
            <a:ext cx="411480" cy="411480"/>
          </a:xfrm>
          <a:prstGeom prst="ellipse">
            <a:avLst/>
          </a:prstGeom>
          <a:solidFill>
            <a:srgbClr val="E8F4FD"/>
          </a:solidFill>
          <a:ln w="10160">
            <a:solidFill>
              <a:srgbClr val="50A0D8"/>
            </a:solidFill>
            <a:prstDash val="solid"/>
          </a:ln>
        </p:spPr>
      </p:sp>
      <p:pic>
        <p:nvPicPr>
          <p:cNvPr id="8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99448" y="1344168"/>
            <a:ext cx="320040" cy="320040"/>
          </a:xfrm>
          <a:prstGeom prst="rect">
            <a:avLst/>
          </a:prstGeom>
        </p:spPr>
      </p:pic>
      <p:sp>
        <p:nvSpPr>
          <p:cNvPr id="90" name="Text 73"/>
          <p:cNvSpPr/>
          <p:nvPr/>
        </p:nvSpPr>
        <p:spPr>
          <a:xfrm>
            <a:off x="9720072" y="1207008"/>
            <a:ext cx="1984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</a:rPr>
              <a:t>Azure App Service / Container Apps</a:t>
            </a:r>
            <a:endParaRPr lang="en-US" sz="950" dirty="0"/>
          </a:p>
        </p:txBody>
      </p:sp>
      <p:sp>
        <p:nvSpPr>
          <p:cNvPr id="91" name="Shape 74"/>
          <p:cNvSpPr/>
          <p:nvPr/>
        </p:nvSpPr>
        <p:spPr>
          <a:xfrm>
            <a:off x="9217152" y="1755648"/>
            <a:ext cx="2505456" cy="0"/>
          </a:xfrm>
          <a:prstGeom prst="line">
            <a:avLst/>
          </a:prstGeom>
          <a:noFill/>
          <a:ln w="6350">
            <a:solidFill>
              <a:srgbClr val="D0DDE8"/>
            </a:solidFill>
            <a:prstDash val="solid"/>
          </a:ln>
        </p:spPr>
      </p:sp>
      <p:sp>
        <p:nvSpPr>
          <p:cNvPr id="92" name="Text 75"/>
          <p:cNvSpPr/>
          <p:nvPr/>
        </p:nvSpPr>
        <p:spPr>
          <a:xfrm>
            <a:off x="9217152" y="1828800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A7A9A"/>
                </a:solidFill>
              </a:rPr>
              <a:t>Hosts the Streamlit front-end and auto-scales (replaces EC2)</a:t>
            </a:r>
            <a:endParaRPr lang="en-US" sz="820" dirty="0"/>
          </a:p>
        </p:txBody>
      </p:sp>
      <p:sp>
        <p:nvSpPr>
          <p:cNvPr id="93" name="Shape 76"/>
          <p:cNvSpPr/>
          <p:nvPr/>
        </p:nvSpPr>
        <p:spPr>
          <a:xfrm>
            <a:off x="9144000" y="2999232"/>
            <a:ext cx="2651760" cy="1719072"/>
          </a:xfrm>
          <a:prstGeom prst="rect">
            <a:avLst/>
          </a:prstGeom>
          <a:solidFill>
            <a:srgbClr val="FFFFFF"/>
          </a:solidFill>
          <a:ln w="10160">
            <a:solidFill>
              <a:srgbClr val="50A0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4" name="Shape 77"/>
          <p:cNvSpPr/>
          <p:nvPr/>
        </p:nvSpPr>
        <p:spPr>
          <a:xfrm>
            <a:off x="9144000" y="2999232"/>
            <a:ext cx="54864" cy="17190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95" name="Shape 78"/>
          <p:cNvSpPr/>
          <p:nvPr/>
        </p:nvSpPr>
        <p:spPr>
          <a:xfrm>
            <a:off x="9253728" y="3145536"/>
            <a:ext cx="411480" cy="411480"/>
          </a:xfrm>
          <a:prstGeom prst="ellipse">
            <a:avLst/>
          </a:prstGeom>
          <a:solidFill>
            <a:srgbClr val="E8F4FD"/>
          </a:solidFill>
          <a:ln w="10160">
            <a:solidFill>
              <a:srgbClr val="50A0D8"/>
            </a:solidFill>
            <a:prstDash val="solid"/>
          </a:ln>
        </p:spPr>
      </p:sp>
      <p:pic>
        <p:nvPicPr>
          <p:cNvPr id="9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99448" y="3191256"/>
            <a:ext cx="320040" cy="320040"/>
          </a:xfrm>
          <a:prstGeom prst="rect">
            <a:avLst/>
          </a:prstGeom>
        </p:spPr>
      </p:pic>
      <p:sp>
        <p:nvSpPr>
          <p:cNvPr id="97" name="Text 79"/>
          <p:cNvSpPr/>
          <p:nvPr/>
        </p:nvSpPr>
        <p:spPr>
          <a:xfrm>
            <a:off x="9720072" y="3054096"/>
            <a:ext cx="1984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</a:rPr>
              <a:t>Azure AD + VNet + Private Endpoints</a:t>
            </a:r>
            <a:endParaRPr lang="en-US" sz="950" dirty="0"/>
          </a:p>
        </p:txBody>
      </p:sp>
      <p:sp>
        <p:nvSpPr>
          <p:cNvPr id="98" name="Shape 80"/>
          <p:cNvSpPr/>
          <p:nvPr/>
        </p:nvSpPr>
        <p:spPr>
          <a:xfrm>
            <a:off x="9217152" y="3602736"/>
            <a:ext cx="2505456" cy="0"/>
          </a:xfrm>
          <a:prstGeom prst="line">
            <a:avLst/>
          </a:prstGeom>
          <a:noFill/>
          <a:ln w="6350">
            <a:solidFill>
              <a:srgbClr val="D0DDE8"/>
            </a:solidFill>
            <a:prstDash val="solid"/>
          </a:ln>
        </p:spPr>
      </p:sp>
      <p:sp>
        <p:nvSpPr>
          <p:cNvPr id="99" name="Text 81"/>
          <p:cNvSpPr/>
          <p:nvPr/>
        </p:nvSpPr>
        <p:spPr>
          <a:xfrm>
            <a:off x="9217152" y="3675888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A7A9A"/>
                </a:solidFill>
              </a:rPr>
              <a:t>Identity, RBAC, and network isolation (replaces IAM / VPC)</a:t>
            </a:r>
            <a:endParaRPr lang="en-US" sz="820" dirty="0"/>
          </a:p>
        </p:txBody>
      </p:sp>
      <p:sp>
        <p:nvSpPr>
          <p:cNvPr id="100" name="Shape 82"/>
          <p:cNvSpPr/>
          <p:nvPr/>
        </p:nvSpPr>
        <p:spPr>
          <a:xfrm>
            <a:off x="9144000" y="4846320"/>
            <a:ext cx="2651760" cy="1719072"/>
          </a:xfrm>
          <a:prstGeom prst="rect">
            <a:avLst/>
          </a:prstGeom>
          <a:solidFill>
            <a:srgbClr val="FFFFFF"/>
          </a:solidFill>
          <a:ln w="10160">
            <a:solidFill>
              <a:srgbClr val="50A0D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01" name="Shape 83"/>
          <p:cNvSpPr/>
          <p:nvPr/>
        </p:nvSpPr>
        <p:spPr>
          <a:xfrm>
            <a:off x="9144000" y="4846320"/>
            <a:ext cx="54864" cy="171907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2" name="Shape 84"/>
          <p:cNvSpPr/>
          <p:nvPr/>
        </p:nvSpPr>
        <p:spPr>
          <a:xfrm>
            <a:off x="9253728" y="4992624"/>
            <a:ext cx="411480" cy="411480"/>
          </a:xfrm>
          <a:prstGeom prst="ellipse">
            <a:avLst/>
          </a:prstGeom>
          <a:solidFill>
            <a:srgbClr val="E8F4FD"/>
          </a:solidFill>
          <a:ln w="10160">
            <a:solidFill>
              <a:srgbClr val="50A0D8"/>
            </a:solidFill>
            <a:prstDash val="solid"/>
          </a:ln>
        </p:spPr>
      </p:sp>
      <p:pic>
        <p:nvPicPr>
          <p:cNvPr id="10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99448" y="5038344"/>
            <a:ext cx="320040" cy="320040"/>
          </a:xfrm>
          <a:prstGeom prst="rect">
            <a:avLst/>
          </a:prstGeom>
        </p:spPr>
      </p:pic>
      <p:sp>
        <p:nvSpPr>
          <p:cNvPr id="104" name="Text 85"/>
          <p:cNvSpPr/>
          <p:nvPr/>
        </p:nvSpPr>
        <p:spPr>
          <a:xfrm>
            <a:off x="9720072" y="4901184"/>
            <a:ext cx="1984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</a:rPr>
              <a:t>Azure Monitor + Application Insights</a:t>
            </a:r>
            <a:endParaRPr lang="en-US" sz="950" dirty="0"/>
          </a:p>
        </p:txBody>
      </p:sp>
      <p:sp>
        <p:nvSpPr>
          <p:cNvPr id="105" name="Shape 86"/>
          <p:cNvSpPr/>
          <p:nvPr/>
        </p:nvSpPr>
        <p:spPr>
          <a:xfrm>
            <a:off x="9217152" y="5449824"/>
            <a:ext cx="2505456" cy="0"/>
          </a:xfrm>
          <a:prstGeom prst="line">
            <a:avLst/>
          </a:prstGeom>
          <a:noFill/>
          <a:ln w="6350">
            <a:solidFill>
              <a:srgbClr val="D0DDE8"/>
            </a:solidFill>
            <a:prstDash val="solid"/>
          </a:ln>
        </p:spPr>
      </p:sp>
      <p:sp>
        <p:nvSpPr>
          <p:cNvPr id="106" name="Text 87"/>
          <p:cNvSpPr/>
          <p:nvPr/>
        </p:nvSpPr>
        <p:spPr>
          <a:xfrm>
            <a:off x="9217152" y="5522976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A7A9A"/>
                </a:solidFill>
              </a:rPr>
              <a:t>Telemetry, logging, alerts &amp; dashboards (replaces CloudWatch)</a:t>
            </a:r>
            <a:endParaRPr lang="en-US" sz="820" dirty="0"/>
          </a:p>
        </p:txBody>
      </p:sp>
      <p:sp>
        <p:nvSpPr>
          <p:cNvPr id="107" name="Shape 88"/>
          <p:cNvSpPr/>
          <p:nvPr/>
        </p:nvSpPr>
        <p:spPr>
          <a:xfrm>
            <a:off x="0" y="6647688"/>
            <a:ext cx="12161520" cy="210312"/>
          </a:xfrm>
          <a:prstGeom prst="rect">
            <a:avLst/>
          </a:prstGeom>
          <a:solidFill>
            <a:srgbClr val="003F6B"/>
          </a:solidFill>
          <a:ln w="12700">
            <a:solidFill>
              <a:srgbClr val="003F6B"/>
            </a:solidFill>
            <a:prstDash val="solid"/>
          </a:ln>
        </p:spPr>
      </p:sp>
      <p:sp>
        <p:nvSpPr>
          <p:cNvPr id="108" name="Text 89"/>
          <p:cNvSpPr/>
          <p:nvPr/>
        </p:nvSpPr>
        <p:spPr>
          <a:xfrm>
            <a:off x="274320" y="6656832"/>
            <a:ext cx="1161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A8C8E8"/>
                </a:solidFill>
              </a:rPr>
              <a:t>All services deployable within Azure Virtual Network with Private Endpoints · Secured via Azure Active Directory RBAC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2026-03-05T07:51:46Z</dcterms:created>
  <dcterms:modified xsi:type="dcterms:W3CDTF">2026-03-05T07:51:46Z</dcterms:modified>
</cp:coreProperties>
</file>