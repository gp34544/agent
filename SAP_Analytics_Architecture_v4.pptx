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001F5B"/>
          </a:solidFill>
          <a:ln w="12700">
            <a:solidFill>
              <a:srgbClr val="001F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7200"/>
            <a:ext cx="12161520" cy="36576"/>
          </a:xfrm>
          <a:prstGeom prst="rect">
            <a:avLst/>
          </a:prstGeom>
          <a:solidFill>
            <a:srgbClr val="0070F3"/>
          </a:solidFill>
          <a:ln w="12700">
            <a:solidFill>
              <a:srgbClr val="0070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91440"/>
            <a:ext cx="603504" cy="27432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" y="91440"/>
            <a:ext cx="603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32688" y="91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 &amp; Analytics Architecture  |  SAP BDC  ·  AI Agents  ·  MCP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0" y="914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Solution Architecture  |  Confidential  |  2026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37160" y="1536192"/>
            <a:ext cx="11887200" cy="2286000"/>
          </a:xfrm>
          <a:prstGeom prst="rect">
            <a:avLst/>
          </a:prstGeom>
          <a:solidFill>
            <a:srgbClr val="F2F7FD"/>
          </a:solidFill>
          <a:ln w="22860">
            <a:solidFill>
              <a:srgbClr val="0057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68512" y="1536192"/>
            <a:ext cx="3355848" cy="237744"/>
          </a:xfrm>
          <a:prstGeom prst="rect">
            <a:avLst/>
          </a:prstGeom>
          <a:solidFill>
            <a:srgbClr val="0057A8"/>
          </a:solidFill>
          <a:ln w="12700">
            <a:solidFill>
              <a:srgbClr val="005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68512" y="1536192"/>
            <a:ext cx="33558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Business Technology Platform (BTP)  |  Cloud Foundry + Kyma Runtime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01168" y="566928"/>
            <a:ext cx="11759184" cy="914400"/>
          </a:xfrm>
          <a:prstGeom prst="rect">
            <a:avLst/>
          </a:prstGeom>
          <a:solidFill>
            <a:srgbClr val="F3F4FF"/>
          </a:solidFill>
          <a:ln w="15240">
            <a:solidFill>
              <a:srgbClr val="3730A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" y="566928"/>
            <a:ext cx="64008" cy="9144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649224"/>
            <a:ext cx="246888" cy="246888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64922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22376" y="649224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30" kern="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LAYER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2376" y="813816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touchpoints — AI-powered insights delivered through SAP interfaces</a:t>
            </a:r>
            <a:endParaRPr lang="en-US" sz="680" dirty="0"/>
          </a:p>
        </p:txBody>
      </p:sp>
      <p:sp>
        <p:nvSpPr>
          <p:cNvPr id="17" name="Shape 15"/>
          <p:cNvSpPr/>
          <p:nvPr/>
        </p:nvSpPr>
        <p:spPr>
          <a:xfrm>
            <a:off x="201168" y="1591056"/>
            <a:ext cx="11759184" cy="1042416"/>
          </a:xfrm>
          <a:prstGeom prst="rect">
            <a:avLst/>
          </a:prstGeom>
          <a:solidFill>
            <a:srgbClr val="EEF4FB"/>
          </a:solidFill>
          <a:ln w="1524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1168" y="1591056"/>
            <a:ext cx="64008" cy="10424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673352"/>
            <a:ext cx="246888" cy="2468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67335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22376" y="16733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3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MCP + A2A LAYER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22376" y="1837944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AI services · Model Context Protocol · Agent-to-Agent communication bus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201168" y="2743200"/>
            <a:ext cx="11759184" cy="1024128"/>
          </a:xfrm>
          <a:prstGeom prst="rect">
            <a:avLst/>
          </a:prstGeom>
          <a:solidFill>
            <a:srgbClr val="F0F4FF"/>
          </a:solidFill>
          <a:ln w="1524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2743200"/>
            <a:ext cx="64008" cy="1024128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825496"/>
            <a:ext cx="246888" cy="24688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82549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22376" y="2825496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30" kern="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LAYER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2376" y="2990088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analytics agents — LangGraph orchestration on SAP BTP · consume BDC data products</a:t>
            </a:r>
            <a:endParaRPr lang="en-US" sz="680" dirty="0"/>
          </a:p>
        </p:txBody>
      </p:sp>
      <p:sp>
        <p:nvSpPr>
          <p:cNvPr id="29" name="Shape 27"/>
          <p:cNvSpPr/>
          <p:nvPr/>
        </p:nvSpPr>
        <p:spPr>
          <a:xfrm>
            <a:off x="201168" y="3877056"/>
            <a:ext cx="11759184" cy="1024128"/>
          </a:xfrm>
          <a:prstGeom prst="rect">
            <a:avLst/>
          </a:prstGeom>
          <a:solidFill>
            <a:srgbClr val="F0FAFA"/>
          </a:solidFill>
          <a:ln w="1524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" y="3877056"/>
            <a:ext cx="64008" cy="10241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959352"/>
            <a:ext cx="246888" cy="24688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95935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22376" y="3959352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3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BUSINESS DATA CLOUD  (BDC)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2376" y="4123944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fabric — ingestion · semantic modelling · data products · governance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201168" y="5010912"/>
            <a:ext cx="11759184" cy="877824"/>
          </a:xfrm>
          <a:prstGeom prst="rect">
            <a:avLst/>
          </a:prstGeom>
          <a:solidFill>
            <a:srgbClr val="F8FAFB"/>
          </a:solidFill>
          <a:ln w="15240">
            <a:solidFill>
              <a:srgbClr val="37415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01168" y="5010912"/>
            <a:ext cx="64008" cy="87782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5093208"/>
            <a:ext cx="246888" cy="246888"/>
          </a:xfrm>
          <a:prstGeom prst="ellipse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509320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22376" y="509320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30" kern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LAYER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22376" y="5257800"/>
            <a:ext cx="86868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 of record — transactional, operational &amp; document data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457200" y="914400"/>
            <a:ext cx="217627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730A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914400"/>
            <a:ext cx="2176272" cy="457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5216" y="99669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Fiori / Launchpad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85216" y="1161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analytics · KPI tiles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2798064" y="914400"/>
            <a:ext cx="217627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730A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798064" y="914400"/>
            <a:ext cx="2176272" cy="457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926080" y="99669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Joule Copilot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926080" y="1161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· ERP context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138928" y="914400"/>
            <a:ext cx="217627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730A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138928" y="914400"/>
            <a:ext cx="2176272" cy="457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66944" y="99669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Analytics Cloud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266944" y="1161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· Dashboards · Planning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479792" y="914400"/>
            <a:ext cx="217627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730A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479792" y="914400"/>
            <a:ext cx="2176272" cy="457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07808" y="99669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Applications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7607808" y="1161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 Analytics · Extended Planning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9820656" y="914400"/>
            <a:ext cx="2176272" cy="493776"/>
          </a:xfrm>
          <a:prstGeom prst="rect">
            <a:avLst/>
          </a:prstGeom>
          <a:solidFill>
            <a:srgbClr val="FFFFFF"/>
          </a:solidFill>
          <a:ln w="10160">
            <a:solidFill>
              <a:srgbClr val="3730A3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9820656" y="914400"/>
            <a:ext cx="2176272" cy="457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948672" y="996696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Workzone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948672" y="116128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UI portal · Notifications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57200" y="2002536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Services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457200" y="1993392"/>
            <a:ext cx="263347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57200" y="1993392"/>
            <a:ext cx="2633472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85216" y="2075688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AI Core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585216" y="224028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hosting · OpenAI · Mistral · BYOM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3255264" y="1993392"/>
            <a:ext cx="263347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255264" y="1993392"/>
            <a:ext cx="2633472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0" y="2075688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Hub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383280" y="224028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· Llama 3 · Prompt orchestration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6053328" y="1993392"/>
            <a:ext cx="263347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053328" y="1993392"/>
            <a:ext cx="2633472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181344" y="2075688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 Cloud Vector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6181344" y="2240280"/>
            <a:ext cx="24505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embeddings · Semantic retrieval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8979408" y="1993392"/>
            <a:ext cx="0" cy="566928"/>
          </a:xfrm>
          <a:prstGeom prst="line">
            <a:avLst/>
          </a:prstGeom>
          <a:noFill/>
          <a:ln w="7620">
            <a:solidFill>
              <a:srgbClr val="1565C0"/>
            </a:solidFill>
            <a:prstDash val="dash"/>
          </a:ln>
        </p:spPr>
      </p:sp>
      <p:sp>
        <p:nvSpPr>
          <p:cNvPr id="75" name="Text 73"/>
          <p:cNvSpPr/>
          <p:nvPr/>
        </p:nvSpPr>
        <p:spPr>
          <a:xfrm>
            <a:off x="9125712" y="2002536"/>
            <a:ext cx="13716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+ A2A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9125712" y="1993392"/>
            <a:ext cx="1316736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9125712" y="1993392"/>
            <a:ext cx="1316736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53728" y="2075688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253728" y="2240280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· File Server · ERP Docs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10543032" y="1993392"/>
            <a:ext cx="1316736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1565C0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10543032" y="1993392"/>
            <a:ext cx="1316736" cy="45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0671048" y="2075688"/>
            <a:ext cx="11338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A2A Protocol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10671048" y="2240280"/>
            <a:ext cx="1133856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Agent-to-Agent task delegation bus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57200" y="3145536"/>
            <a:ext cx="11411712" cy="182880"/>
          </a:xfrm>
          <a:prstGeom prst="rect">
            <a:avLst/>
          </a:prstGeom>
          <a:solidFill>
            <a:srgbClr val="1E40AF">
              <a:alpha val="10000"/>
            </a:srgbClr>
          </a:solidFill>
          <a:ln w="6350">
            <a:solidFill>
              <a:srgbClr val="1E40A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0352" y="3145536"/>
            <a:ext cx="112836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 —  LangGraph Workflow Engine  ·  Multi-Agent Router  ·  Memory Manager  ·  Guardrail (SAP IAS)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457200" y="3364992"/>
            <a:ext cx="2761488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457200" y="3364992"/>
            <a:ext cx="2761488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85216" y="3447288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Monitor Agent</a:t>
            </a:r>
            <a:endParaRPr lang="en-US" sz="850" dirty="0"/>
          </a:p>
        </p:txBody>
      </p:sp>
      <p:sp>
        <p:nvSpPr>
          <p:cNvPr id="89" name="Text 87"/>
          <p:cNvSpPr/>
          <p:nvPr/>
        </p:nvSpPr>
        <p:spPr>
          <a:xfrm>
            <a:off x="585216" y="361188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 · Freshness · SLA alerts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3383280" y="3364992"/>
            <a:ext cx="2761488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3383280" y="3364992"/>
            <a:ext cx="2761488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11296" y="3447288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Agent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3511296" y="361188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· Root cause · DQ rule management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6309360" y="3364992"/>
            <a:ext cx="2761488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6309360" y="3364992"/>
            <a:ext cx="2761488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437376" y="3447288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Agent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6437376" y="361188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BDC Query · KPI narratives · Text2SQL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9235440" y="3364992"/>
            <a:ext cx="2761488" cy="365760"/>
          </a:xfrm>
          <a:prstGeom prst="rect">
            <a:avLst/>
          </a:prstGeom>
          <a:solidFill>
            <a:srgbClr val="FFFFFF"/>
          </a:solidFill>
          <a:ln w="10160">
            <a:solidFill>
              <a:srgbClr val="1E40AF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9235440" y="3364992"/>
            <a:ext cx="2761488" cy="457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363456" y="3447288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Delivery Agent</a:t>
            </a:r>
            <a:endParaRPr lang="en-US" sz="850" dirty="0"/>
          </a:p>
        </p:txBody>
      </p:sp>
      <p:sp>
        <p:nvSpPr>
          <p:cNvPr id="101" name="Text 99"/>
          <p:cNvSpPr/>
          <p:nvPr/>
        </p:nvSpPr>
        <p:spPr>
          <a:xfrm>
            <a:off x="9363456" y="361188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story builder · Push alerts · MCP docs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457200" y="4242816"/>
            <a:ext cx="217627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457200" y="4242816"/>
            <a:ext cx="2176272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85216" y="432511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 Replication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585216" y="4489704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SLT · ODP/CDS · Object Store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2798064" y="4242816"/>
            <a:ext cx="217627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07" name="Shape 105"/>
          <p:cNvSpPr/>
          <p:nvPr/>
        </p:nvSpPr>
        <p:spPr>
          <a:xfrm>
            <a:off x="2798064" y="4242816"/>
            <a:ext cx="2176272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926080" y="432511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BW PCE + Databricks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2926080" y="4489704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· Zero-copy · ML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5138928" y="4242816"/>
            <a:ext cx="217627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5138928" y="4242816"/>
            <a:ext cx="2176272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266944" y="432511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Datasphere</a:t>
            </a:r>
            <a:endParaRPr lang="en-US" sz="850" dirty="0"/>
          </a:p>
        </p:txBody>
      </p:sp>
      <p:sp>
        <p:nvSpPr>
          <p:cNvPr id="113" name="Text 111"/>
          <p:cNvSpPr/>
          <p:nvPr/>
        </p:nvSpPr>
        <p:spPr>
          <a:xfrm>
            <a:off x="5266944" y="4489704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 · Knowledge Graph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7479792" y="4242816"/>
            <a:ext cx="217627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7479792" y="4242816"/>
            <a:ext cx="2176272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607808" y="432511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Products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7607808" y="4489704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Supply Chain · HR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9820656" y="4242816"/>
            <a:ext cx="2176272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0D7377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19" name="Shape 117"/>
          <p:cNvSpPr/>
          <p:nvPr/>
        </p:nvSpPr>
        <p:spPr>
          <a:xfrm>
            <a:off x="9820656" y="4242816"/>
            <a:ext cx="2176272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9948672" y="432511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Lineage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9948672" y="4489704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catalog · Access policies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457200" y="5358384"/>
            <a:ext cx="1792224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37415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457200" y="5358384"/>
            <a:ext cx="1792224" cy="457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85216" y="544068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S/4HANA PCE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585216" y="56052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· MM · SD · CO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2404872" y="5358384"/>
            <a:ext cx="1792224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37415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27" name="Shape 125"/>
          <p:cNvSpPr/>
          <p:nvPr/>
        </p:nvSpPr>
        <p:spPr>
          <a:xfrm>
            <a:off x="2404872" y="5358384"/>
            <a:ext cx="1792224" cy="457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2532888" y="544068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SuccessFactors</a:t>
            </a:r>
            <a:endParaRPr lang="en-US" sz="850" dirty="0"/>
          </a:p>
        </p:txBody>
      </p:sp>
      <p:sp>
        <p:nvSpPr>
          <p:cNvPr id="129" name="Text 127"/>
          <p:cNvSpPr/>
          <p:nvPr/>
        </p:nvSpPr>
        <p:spPr>
          <a:xfrm>
            <a:off x="2532888" y="56052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· Payroll · Workforce</a:t>
            </a:r>
            <a:endParaRPr lang="en-US" sz="700" dirty="0"/>
          </a:p>
        </p:txBody>
      </p:sp>
      <p:sp>
        <p:nvSpPr>
          <p:cNvPr id="130" name="Shape 128"/>
          <p:cNvSpPr/>
          <p:nvPr/>
        </p:nvSpPr>
        <p:spPr>
          <a:xfrm>
            <a:off x="4352544" y="5358384"/>
            <a:ext cx="1792224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37415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1" name="Shape 129"/>
          <p:cNvSpPr/>
          <p:nvPr/>
        </p:nvSpPr>
        <p:spPr>
          <a:xfrm>
            <a:off x="4352544" y="5358384"/>
            <a:ext cx="1792224" cy="457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480560" y="544068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Ariba / Concur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4480560" y="56052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· T&amp;E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6300216" y="5358384"/>
            <a:ext cx="1792224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37415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5" name="Shape 133"/>
          <p:cNvSpPr/>
          <p:nvPr/>
        </p:nvSpPr>
        <p:spPr>
          <a:xfrm>
            <a:off x="6300216" y="5358384"/>
            <a:ext cx="1792224" cy="457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6428232" y="544068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BW / 4HANA</a:t>
            </a:r>
            <a:endParaRPr lang="en-US" sz="850" dirty="0"/>
          </a:p>
        </p:txBody>
      </p:sp>
      <p:sp>
        <p:nvSpPr>
          <p:cNvPr id="137" name="Text 135"/>
          <p:cNvSpPr/>
          <p:nvPr/>
        </p:nvSpPr>
        <p:spPr>
          <a:xfrm>
            <a:off x="6428232" y="56052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DWH · BEx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8247888" y="5358384"/>
            <a:ext cx="1792224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37415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39" name="Shape 137"/>
          <p:cNvSpPr/>
          <p:nvPr/>
        </p:nvSpPr>
        <p:spPr>
          <a:xfrm>
            <a:off x="8247888" y="5358384"/>
            <a:ext cx="1792224" cy="457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8375904" y="544068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/ Files</a:t>
            </a:r>
            <a:endParaRPr lang="en-US" sz="850" dirty="0"/>
          </a:p>
        </p:txBody>
      </p:sp>
      <p:sp>
        <p:nvSpPr>
          <p:cNvPr id="141" name="Text 139"/>
          <p:cNvSpPr/>
          <p:nvPr/>
        </p:nvSpPr>
        <p:spPr>
          <a:xfrm>
            <a:off x="8375904" y="56052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· File Server</a:t>
            </a:r>
            <a:endParaRPr lang="en-US" sz="700" dirty="0"/>
          </a:p>
        </p:txBody>
      </p:sp>
      <p:sp>
        <p:nvSpPr>
          <p:cNvPr id="142" name="Shape 140"/>
          <p:cNvSpPr/>
          <p:nvPr/>
        </p:nvSpPr>
        <p:spPr>
          <a:xfrm>
            <a:off x="10195560" y="5358384"/>
            <a:ext cx="1792224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374151"/>
            </a:solidFill>
            <a:prstDash val="solid"/>
          </a:ln>
          <a:effectLst>
            <a:outerShdw sx="100000" sy="100000" kx="0" ky="0" algn="bl" rotWithShape="0" blurRad="63500" dist="12700" dir="8100000">
              <a:srgbClr val="000000">
                <a:alpha val="7000"/>
              </a:srgbClr>
            </a:outerShdw>
          </a:effectLst>
        </p:spPr>
      </p:sp>
      <p:sp>
        <p:nvSpPr>
          <p:cNvPr id="143" name="Shape 141"/>
          <p:cNvSpPr/>
          <p:nvPr/>
        </p:nvSpPr>
        <p:spPr>
          <a:xfrm>
            <a:off x="10195560" y="5358384"/>
            <a:ext cx="1792224" cy="4572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10323576" y="5440680"/>
            <a:ext cx="160934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&amp; APIs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10323576" y="5605272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3rd-Party · IoT · SaaS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1828800" y="1490472"/>
            <a:ext cx="0" cy="91440"/>
          </a:xfrm>
          <a:prstGeom prst="line">
            <a:avLst/>
          </a:prstGeom>
          <a:noFill/>
          <a:ln w="12700">
            <a:solidFill>
              <a:srgbClr val="3730A3"/>
            </a:solidFill>
            <a:prstDash val="sysDash"/>
          </a:ln>
        </p:spPr>
      </p:sp>
      <p:sp>
        <p:nvSpPr>
          <p:cNvPr id="147" name="Text 145"/>
          <p:cNvSpPr/>
          <p:nvPr/>
        </p:nvSpPr>
        <p:spPr>
          <a:xfrm>
            <a:off x="1746504" y="148132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30A3"/>
                </a:solidFill>
              </a:rPr>
              <a:t>▲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1883664" y="1435608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3730A3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883664" y="14356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650" dirty="0"/>
          </a:p>
        </p:txBody>
      </p:sp>
      <p:sp>
        <p:nvSpPr>
          <p:cNvPr id="150" name="Shape 148"/>
          <p:cNvSpPr/>
          <p:nvPr/>
        </p:nvSpPr>
        <p:spPr>
          <a:xfrm>
            <a:off x="6858000" y="1490472"/>
            <a:ext cx="0" cy="91440"/>
          </a:xfrm>
          <a:prstGeom prst="line">
            <a:avLst/>
          </a:prstGeom>
          <a:noFill/>
          <a:ln w="12700">
            <a:solidFill>
              <a:srgbClr val="3730A3"/>
            </a:solidFill>
            <a:prstDash val="sysDash"/>
          </a:ln>
        </p:spPr>
      </p:sp>
      <p:sp>
        <p:nvSpPr>
          <p:cNvPr id="151" name="Text 149"/>
          <p:cNvSpPr/>
          <p:nvPr/>
        </p:nvSpPr>
        <p:spPr>
          <a:xfrm>
            <a:off x="6775704" y="148132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30A3"/>
                </a:solidFill>
              </a:rPr>
              <a:t>▲</a:t>
            </a:r>
            <a:endParaRPr lang="en-US" sz="700" dirty="0"/>
          </a:p>
        </p:txBody>
      </p:sp>
      <p:sp>
        <p:nvSpPr>
          <p:cNvPr id="152" name="Shape 150"/>
          <p:cNvSpPr/>
          <p:nvPr/>
        </p:nvSpPr>
        <p:spPr>
          <a:xfrm>
            <a:off x="1828800" y="2642616"/>
            <a:ext cx="0" cy="91440"/>
          </a:xfrm>
          <a:prstGeom prst="line">
            <a:avLst/>
          </a:prstGeom>
          <a:noFill/>
          <a:ln w="12700">
            <a:solidFill>
              <a:srgbClr val="1565C0"/>
            </a:solidFill>
            <a:prstDash val="sysDash"/>
          </a:ln>
        </p:spPr>
      </p:sp>
      <p:sp>
        <p:nvSpPr>
          <p:cNvPr id="153" name="Text 151"/>
          <p:cNvSpPr/>
          <p:nvPr/>
        </p:nvSpPr>
        <p:spPr>
          <a:xfrm>
            <a:off x="1746504" y="263347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65C0"/>
                </a:solidFill>
              </a:rPr>
              <a:t>▲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1883664" y="2587752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1565C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1883664" y="2587752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LLM</a:t>
            </a:r>
            <a:endParaRPr lang="en-US" sz="650" dirty="0"/>
          </a:p>
        </p:txBody>
      </p:sp>
      <p:sp>
        <p:nvSpPr>
          <p:cNvPr id="156" name="Shape 154"/>
          <p:cNvSpPr/>
          <p:nvPr/>
        </p:nvSpPr>
        <p:spPr>
          <a:xfrm>
            <a:off x="6858000" y="2642616"/>
            <a:ext cx="0" cy="91440"/>
          </a:xfrm>
          <a:prstGeom prst="line">
            <a:avLst/>
          </a:prstGeom>
          <a:noFill/>
          <a:ln w="12700">
            <a:solidFill>
              <a:srgbClr val="1565C0"/>
            </a:solidFill>
            <a:prstDash val="sysDash"/>
          </a:ln>
        </p:spPr>
      </p:sp>
      <p:sp>
        <p:nvSpPr>
          <p:cNvPr id="157" name="Text 155"/>
          <p:cNvSpPr/>
          <p:nvPr/>
        </p:nvSpPr>
        <p:spPr>
          <a:xfrm>
            <a:off x="6775704" y="2633472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565C0"/>
                </a:solidFill>
              </a:rPr>
              <a:t>▲</a:t>
            </a:r>
            <a:endParaRPr lang="en-US" sz="700" dirty="0"/>
          </a:p>
        </p:txBody>
      </p:sp>
      <p:sp>
        <p:nvSpPr>
          <p:cNvPr id="158" name="Shape 156"/>
          <p:cNvSpPr/>
          <p:nvPr/>
        </p:nvSpPr>
        <p:spPr>
          <a:xfrm>
            <a:off x="1828800" y="3776472"/>
            <a:ext cx="0" cy="91440"/>
          </a:xfrm>
          <a:prstGeom prst="line">
            <a:avLst/>
          </a:prstGeom>
          <a:noFill/>
          <a:ln w="12700">
            <a:solidFill>
              <a:srgbClr val="1E40AF"/>
            </a:solidFill>
            <a:prstDash val="sysDash"/>
          </a:ln>
        </p:spPr>
      </p:sp>
      <p:sp>
        <p:nvSpPr>
          <p:cNvPr id="159" name="Text 157"/>
          <p:cNvSpPr/>
          <p:nvPr/>
        </p:nvSpPr>
        <p:spPr>
          <a:xfrm>
            <a:off x="1746504" y="376732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40AF"/>
                </a:solidFill>
              </a:rPr>
              <a:t>▲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1883664" y="3721608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1E40A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883664" y="3721608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OData / REST</a:t>
            </a:r>
            <a:endParaRPr lang="en-US" sz="650" dirty="0"/>
          </a:p>
        </p:txBody>
      </p:sp>
      <p:sp>
        <p:nvSpPr>
          <p:cNvPr id="162" name="Shape 160"/>
          <p:cNvSpPr/>
          <p:nvPr/>
        </p:nvSpPr>
        <p:spPr>
          <a:xfrm>
            <a:off x="6858000" y="3776472"/>
            <a:ext cx="0" cy="91440"/>
          </a:xfrm>
          <a:prstGeom prst="line">
            <a:avLst/>
          </a:prstGeom>
          <a:noFill/>
          <a:ln w="12700">
            <a:solidFill>
              <a:srgbClr val="1E40AF"/>
            </a:solidFill>
            <a:prstDash val="sysDash"/>
          </a:ln>
        </p:spPr>
      </p:sp>
      <p:sp>
        <p:nvSpPr>
          <p:cNvPr id="163" name="Text 161"/>
          <p:cNvSpPr/>
          <p:nvPr/>
        </p:nvSpPr>
        <p:spPr>
          <a:xfrm>
            <a:off x="6775704" y="376732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40AF"/>
                </a:solidFill>
              </a:rPr>
              <a:t>▲</a:t>
            </a:r>
            <a:endParaRPr lang="en-US" sz="700" dirty="0"/>
          </a:p>
        </p:txBody>
      </p:sp>
      <p:sp>
        <p:nvSpPr>
          <p:cNvPr id="164" name="Shape 162"/>
          <p:cNvSpPr/>
          <p:nvPr/>
        </p:nvSpPr>
        <p:spPr>
          <a:xfrm>
            <a:off x="1828800" y="4910328"/>
            <a:ext cx="0" cy="91440"/>
          </a:xfrm>
          <a:prstGeom prst="line">
            <a:avLst/>
          </a:prstGeom>
          <a:noFill/>
          <a:ln w="12700">
            <a:solidFill>
              <a:srgbClr val="0D7377"/>
            </a:solidFill>
            <a:prstDash val="sysDash"/>
          </a:ln>
        </p:spPr>
      </p:sp>
      <p:sp>
        <p:nvSpPr>
          <p:cNvPr id="165" name="Text 163"/>
          <p:cNvSpPr/>
          <p:nvPr/>
        </p:nvSpPr>
        <p:spPr>
          <a:xfrm>
            <a:off x="1746504" y="490118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7377"/>
                </a:solidFill>
              </a:rPr>
              <a:t>▲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883664" y="4855464"/>
            <a:ext cx="84124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0D7377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883664" y="4855464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650" dirty="0"/>
          </a:p>
        </p:txBody>
      </p:sp>
      <p:sp>
        <p:nvSpPr>
          <p:cNvPr id="168" name="Shape 166"/>
          <p:cNvSpPr/>
          <p:nvPr/>
        </p:nvSpPr>
        <p:spPr>
          <a:xfrm>
            <a:off x="6858000" y="4910328"/>
            <a:ext cx="0" cy="91440"/>
          </a:xfrm>
          <a:prstGeom prst="line">
            <a:avLst/>
          </a:prstGeom>
          <a:noFill/>
          <a:ln w="12700">
            <a:solidFill>
              <a:srgbClr val="0D7377"/>
            </a:solidFill>
            <a:prstDash val="sysDash"/>
          </a:ln>
        </p:spPr>
      </p:sp>
      <p:sp>
        <p:nvSpPr>
          <p:cNvPr id="169" name="Text 167"/>
          <p:cNvSpPr/>
          <p:nvPr/>
        </p:nvSpPr>
        <p:spPr>
          <a:xfrm>
            <a:off x="6775704" y="4901184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7377"/>
                </a:solidFill>
              </a:rPr>
              <a:t>▲</a:t>
            </a:r>
            <a:endParaRPr lang="en-US" sz="700" dirty="0"/>
          </a:p>
        </p:txBody>
      </p:sp>
      <p:sp>
        <p:nvSpPr>
          <p:cNvPr id="170" name="Shape 168"/>
          <p:cNvSpPr/>
          <p:nvPr/>
        </p:nvSpPr>
        <p:spPr>
          <a:xfrm>
            <a:off x="11064240" y="3785616"/>
            <a:ext cx="0" cy="73152"/>
          </a:xfrm>
          <a:prstGeom prst="line">
            <a:avLst/>
          </a:prstGeom>
          <a:noFill/>
          <a:ln w="12700">
            <a:solidFill>
              <a:srgbClr val="1E40AF"/>
            </a:solidFill>
            <a:prstDash val="sysDash"/>
          </a:ln>
        </p:spPr>
      </p:sp>
      <p:sp>
        <p:nvSpPr>
          <p:cNvPr id="171" name="Text 169"/>
          <p:cNvSpPr/>
          <p:nvPr/>
        </p:nvSpPr>
        <p:spPr>
          <a:xfrm>
            <a:off x="10981944" y="3749040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E40AF"/>
                </a:solidFill>
              </a:rPr>
              <a:t>▼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11210544" y="3785616"/>
            <a:ext cx="0" cy="73152"/>
          </a:xfrm>
          <a:prstGeom prst="line">
            <a:avLst/>
          </a:prstGeom>
          <a:noFill/>
          <a:ln w="12700">
            <a:solidFill>
              <a:srgbClr val="0D7377"/>
            </a:solidFill>
            <a:prstDash val="sysDash"/>
          </a:ln>
        </p:spPr>
      </p:sp>
      <p:sp>
        <p:nvSpPr>
          <p:cNvPr id="173" name="Text 171"/>
          <p:cNvSpPr/>
          <p:nvPr/>
        </p:nvSpPr>
        <p:spPr>
          <a:xfrm>
            <a:off x="11119104" y="3767328"/>
            <a:ext cx="16459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D7377"/>
                </a:solidFill>
              </a:rPr>
              <a:t>▲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1009376" y="3721608"/>
            <a:ext cx="87782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620">
            <a:solidFill>
              <a:srgbClr val="0D7377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1009376" y="3721608"/>
            <a:ext cx="8778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BDC Query</a:t>
            </a:r>
            <a:endParaRPr lang="en-US" sz="650" dirty="0"/>
          </a:p>
        </p:txBody>
      </p:sp>
      <p:sp>
        <p:nvSpPr>
          <p:cNvPr id="176" name="Shape 174"/>
          <p:cNvSpPr/>
          <p:nvPr/>
        </p:nvSpPr>
        <p:spPr>
          <a:xfrm>
            <a:off x="0" y="5980176"/>
            <a:ext cx="12161520" cy="0"/>
          </a:xfrm>
          <a:prstGeom prst="line">
            <a:avLst/>
          </a:prstGeom>
          <a:noFill/>
          <a:ln w="10160">
            <a:solidFill>
              <a:srgbClr val="E2E8F0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256032" y="6053328"/>
            <a:ext cx="18288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Data flow: bottom to top</a:t>
            </a:r>
            <a:endParaRPr lang="en-US" sz="700" dirty="0"/>
          </a:p>
        </p:txBody>
      </p:sp>
      <p:sp>
        <p:nvSpPr>
          <p:cNvPr id="178" name="Shape 176"/>
          <p:cNvSpPr/>
          <p:nvPr/>
        </p:nvSpPr>
        <p:spPr>
          <a:xfrm>
            <a:off x="2194560" y="6053328"/>
            <a:ext cx="182880" cy="12801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2432304" y="6044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Source Layer</a:t>
            </a:r>
            <a:endParaRPr lang="en-US" sz="700" dirty="0"/>
          </a:p>
        </p:txBody>
      </p:sp>
      <p:sp>
        <p:nvSpPr>
          <p:cNvPr id="180" name="Shape 178"/>
          <p:cNvSpPr/>
          <p:nvPr/>
        </p:nvSpPr>
        <p:spPr>
          <a:xfrm>
            <a:off x="3959352" y="6053328"/>
            <a:ext cx="182880" cy="12801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197096" y="6044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SAP BDC Layer</a:t>
            </a:r>
            <a:endParaRPr lang="en-US" sz="700" dirty="0"/>
          </a:p>
        </p:txBody>
      </p:sp>
      <p:sp>
        <p:nvSpPr>
          <p:cNvPr id="182" name="Shape 180"/>
          <p:cNvSpPr/>
          <p:nvPr/>
        </p:nvSpPr>
        <p:spPr>
          <a:xfrm>
            <a:off x="5724144" y="6053328"/>
            <a:ext cx="182880" cy="12801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5961888" y="6044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Agent Layer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7488936" y="6053328"/>
            <a:ext cx="182880" cy="12801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7726680" y="6044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AI + MCP + A2A</a:t>
            </a:r>
            <a:endParaRPr lang="en-US" sz="700" dirty="0"/>
          </a:p>
        </p:txBody>
      </p:sp>
      <p:sp>
        <p:nvSpPr>
          <p:cNvPr id="186" name="Shape 184"/>
          <p:cNvSpPr/>
          <p:nvPr/>
        </p:nvSpPr>
        <p:spPr>
          <a:xfrm>
            <a:off x="9253728" y="6053328"/>
            <a:ext cx="182880" cy="128016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9491472" y="6044184"/>
            <a:ext cx="1554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Experience Layer</a:t>
            </a:r>
            <a:endParaRPr lang="en-US" sz="700" dirty="0"/>
          </a:p>
        </p:txBody>
      </p:sp>
      <p:sp>
        <p:nvSpPr>
          <p:cNvPr id="188" name="Shape 186"/>
          <p:cNvSpPr/>
          <p:nvPr/>
        </p:nvSpPr>
        <p:spPr>
          <a:xfrm>
            <a:off x="10131552" y="6035040"/>
            <a:ext cx="1874520" cy="201168"/>
          </a:xfrm>
          <a:prstGeom prst="roundRect">
            <a:avLst>
              <a:gd name="adj" fmla="val 18182"/>
            </a:avLst>
          </a:prstGeom>
          <a:solidFill>
            <a:srgbClr val="0057A8"/>
          </a:solidFill>
          <a:ln w="12700">
            <a:solidFill>
              <a:srgbClr val="0057A8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0131552" y="6035040"/>
            <a:ext cx="1874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3 &amp; 4 run on SAP BTP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2026-02-25T19:37:24Z</dcterms:created>
  <dcterms:modified xsi:type="dcterms:W3CDTF">2026-02-25T19:37:24Z</dcterms:modified>
</cp:coreProperties>
</file>