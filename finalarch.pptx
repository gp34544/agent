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050D1A"/>
          </a:solidFill>
          <a:ln w="12700">
            <a:solidFill>
              <a:srgbClr val="050D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"/>
            <a:ext cx="6080760" cy="36576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35808" y="438912"/>
            <a:ext cx="3035808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80760" y="438912"/>
            <a:ext cx="3035808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25712" y="438912"/>
            <a:ext cx="3035808" cy="3657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82296"/>
            <a:ext cx="640080" cy="274320"/>
          </a:xfrm>
          <a:prstGeom prst="roundRect">
            <a:avLst>
              <a:gd name="adj" fmla="val 13333"/>
            </a:avLst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8229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32688" y="8229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Analytics Architecture  |  Source  →  BDC  →  Agents  →  AI + MCP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149840" y="8229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AI Solution Architecture  |  2026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508760" y="1920240"/>
            <a:ext cx="0" cy="109728"/>
          </a:xfrm>
          <a:prstGeom prst="line">
            <a:avLst/>
          </a:prstGeom>
          <a:noFill/>
          <a:ln w="7620">
            <a:solidFill>
              <a:srgbClr val="B45309"/>
            </a:solidFill>
            <a:prstDash val="sysDash"/>
          </a:ln>
        </p:spPr>
      </p:sp>
      <p:sp>
        <p:nvSpPr>
          <p:cNvPr id="12" name="Shape 10"/>
          <p:cNvSpPr/>
          <p:nvPr/>
        </p:nvSpPr>
        <p:spPr>
          <a:xfrm>
            <a:off x="3017520" y="1920240"/>
            <a:ext cx="0" cy="109728"/>
          </a:xfrm>
          <a:prstGeom prst="line">
            <a:avLst/>
          </a:prstGeom>
          <a:noFill/>
          <a:ln w="7620">
            <a:solidFill>
              <a:srgbClr val="B45309"/>
            </a:solidFill>
            <a:prstDash val="sysDash"/>
          </a:ln>
        </p:spPr>
      </p:sp>
      <p:sp>
        <p:nvSpPr>
          <p:cNvPr id="13" name="Shape 11"/>
          <p:cNvSpPr/>
          <p:nvPr/>
        </p:nvSpPr>
        <p:spPr>
          <a:xfrm>
            <a:off x="4526280" y="1920240"/>
            <a:ext cx="0" cy="109728"/>
          </a:xfrm>
          <a:prstGeom prst="line">
            <a:avLst/>
          </a:prstGeom>
          <a:noFill/>
          <a:ln w="7620">
            <a:solidFill>
              <a:srgbClr val="B45309"/>
            </a:solidFill>
            <a:prstDash val="sysDash"/>
          </a:ln>
        </p:spPr>
      </p:sp>
      <p:sp>
        <p:nvSpPr>
          <p:cNvPr id="14" name="Shape 12"/>
          <p:cNvSpPr/>
          <p:nvPr/>
        </p:nvSpPr>
        <p:spPr>
          <a:xfrm>
            <a:off x="6035040" y="1920240"/>
            <a:ext cx="0" cy="109728"/>
          </a:xfrm>
          <a:prstGeom prst="line">
            <a:avLst/>
          </a:prstGeom>
          <a:noFill/>
          <a:ln w="7620">
            <a:solidFill>
              <a:srgbClr val="B45309"/>
            </a:solidFill>
            <a:prstDash val="sysDash"/>
          </a:ln>
        </p:spPr>
      </p:sp>
      <p:sp>
        <p:nvSpPr>
          <p:cNvPr id="15" name="Shape 13"/>
          <p:cNvSpPr/>
          <p:nvPr/>
        </p:nvSpPr>
        <p:spPr>
          <a:xfrm>
            <a:off x="7543800" y="1920240"/>
            <a:ext cx="0" cy="109728"/>
          </a:xfrm>
          <a:prstGeom prst="line">
            <a:avLst/>
          </a:prstGeom>
          <a:noFill/>
          <a:ln w="7620">
            <a:solidFill>
              <a:srgbClr val="B45309"/>
            </a:solidFill>
            <a:prstDash val="sysDash"/>
          </a:ln>
        </p:spPr>
      </p:sp>
      <p:sp>
        <p:nvSpPr>
          <p:cNvPr id="16" name="Shape 14"/>
          <p:cNvSpPr/>
          <p:nvPr/>
        </p:nvSpPr>
        <p:spPr>
          <a:xfrm>
            <a:off x="9052560" y="1920240"/>
            <a:ext cx="0" cy="109728"/>
          </a:xfrm>
          <a:prstGeom prst="line">
            <a:avLst/>
          </a:prstGeom>
          <a:noFill/>
          <a:ln w="7620">
            <a:solidFill>
              <a:srgbClr val="B45309"/>
            </a:solidFill>
            <a:prstDash val="sysDash"/>
          </a:ln>
        </p:spPr>
      </p:sp>
      <p:sp>
        <p:nvSpPr>
          <p:cNvPr id="17" name="Shape 15"/>
          <p:cNvSpPr/>
          <p:nvPr/>
        </p:nvSpPr>
        <p:spPr>
          <a:xfrm>
            <a:off x="10561320" y="1920240"/>
            <a:ext cx="0" cy="109728"/>
          </a:xfrm>
          <a:prstGeom prst="line">
            <a:avLst/>
          </a:prstGeom>
          <a:noFill/>
          <a:ln w="7620">
            <a:solidFill>
              <a:srgbClr val="B45309"/>
            </a:solidFill>
            <a:prstDash val="sysDash"/>
          </a:ln>
        </p:spPr>
      </p:sp>
      <p:sp>
        <p:nvSpPr>
          <p:cNvPr id="18" name="Shape 16"/>
          <p:cNvSpPr/>
          <p:nvPr/>
        </p:nvSpPr>
        <p:spPr>
          <a:xfrm>
            <a:off x="1508760" y="3657600"/>
            <a:ext cx="0" cy="109728"/>
          </a:xfrm>
          <a:prstGeom prst="line">
            <a:avLst/>
          </a:prstGeom>
          <a:noFill/>
          <a:ln w="7620">
            <a:solidFill>
              <a:srgbClr val="0891B2"/>
            </a:solidFill>
            <a:prstDash val="sysDash"/>
          </a:ln>
        </p:spPr>
      </p:sp>
      <p:sp>
        <p:nvSpPr>
          <p:cNvPr id="19" name="Shape 17"/>
          <p:cNvSpPr/>
          <p:nvPr/>
        </p:nvSpPr>
        <p:spPr>
          <a:xfrm>
            <a:off x="3017520" y="3657600"/>
            <a:ext cx="0" cy="109728"/>
          </a:xfrm>
          <a:prstGeom prst="line">
            <a:avLst/>
          </a:prstGeom>
          <a:noFill/>
          <a:ln w="7620">
            <a:solidFill>
              <a:srgbClr val="0891B2"/>
            </a:solidFill>
            <a:prstDash val="sysDash"/>
          </a:ln>
        </p:spPr>
      </p:sp>
      <p:sp>
        <p:nvSpPr>
          <p:cNvPr id="20" name="Shape 18"/>
          <p:cNvSpPr/>
          <p:nvPr/>
        </p:nvSpPr>
        <p:spPr>
          <a:xfrm>
            <a:off x="4526280" y="3657600"/>
            <a:ext cx="0" cy="109728"/>
          </a:xfrm>
          <a:prstGeom prst="line">
            <a:avLst/>
          </a:prstGeom>
          <a:noFill/>
          <a:ln w="7620">
            <a:solidFill>
              <a:srgbClr val="0891B2"/>
            </a:solidFill>
            <a:prstDash val="sysDash"/>
          </a:ln>
        </p:spPr>
      </p:sp>
      <p:sp>
        <p:nvSpPr>
          <p:cNvPr id="21" name="Shape 19"/>
          <p:cNvSpPr/>
          <p:nvPr/>
        </p:nvSpPr>
        <p:spPr>
          <a:xfrm>
            <a:off x="6035040" y="3657600"/>
            <a:ext cx="0" cy="109728"/>
          </a:xfrm>
          <a:prstGeom prst="line">
            <a:avLst/>
          </a:prstGeom>
          <a:noFill/>
          <a:ln w="7620">
            <a:solidFill>
              <a:srgbClr val="0891B2"/>
            </a:solidFill>
            <a:prstDash val="sysDash"/>
          </a:ln>
        </p:spPr>
      </p:sp>
      <p:sp>
        <p:nvSpPr>
          <p:cNvPr id="22" name="Shape 20"/>
          <p:cNvSpPr/>
          <p:nvPr/>
        </p:nvSpPr>
        <p:spPr>
          <a:xfrm>
            <a:off x="7543800" y="3657600"/>
            <a:ext cx="0" cy="109728"/>
          </a:xfrm>
          <a:prstGeom prst="line">
            <a:avLst/>
          </a:prstGeom>
          <a:noFill/>
          <a:ln w="7620">
            <a:solidFill>
              <a:srgbClr val="0891B2"/>
            </a:solidFill>
            <a:prstDash val="sysDash"/>
          </a:ln>
        </p:spPr>
      </p:sp>
      <p:sp>
        <p:nvSpPr>
          <p:cNvPr id="23" name="Shape 21"/>
          <p:cNvSpPr/>
          <p:nvPr/>
        </p:nvSpPr>
        <p:spPr>
          <a:xfrm>
            <a:off x="9052560" y="3657600"/>
            <a:ext cx="0" cy="109728"/>
          </a:xfrm>
          <a:prstGeom prst="line">
            <a:avLst/>
          </a:prstGeom>
          <a:noFill/>
          <a:ln w="7620">
            <a:solidFill>
              <a:srgbClr val="0891B2"/>
            </a:solidFill>
            <a:prstDash val="sysDash"/>
          </a:ln>
        </p:spPr>
      </p:sp>
      <p:sp>
        <p:nvSpPr>
          <p:cNvPr id="24" name="Shape 22"/>
          <p:cNvSpPr/>
          <p:nvPr/>
        </p:nvSpPr>
        <p:spPr>
          <a:xfrm>
            <a:off x="10561320" y="3657600"/>
            <a:ext cx="0" cy="109728"/>
          </a:xfrm>
          <a:prstGeom prst="line">
            <a:avLst/>
          </a:prstGeom>
          <a:noFill/>
          <a:ln w="7620">
            <a:solidFill>
              <a:srgbClr val="0891B2"/>
            </a:solidFill>
            <a:prstDash val="sysDash"/>
          </a:ln>
        </p:spPr>
      </p:sp>
      <p:sp>
        <p:nvSpPr>
          <p:cNvPr id="25" name="Shape 23"/>
          <p:cNvSpPr/>
          <p:nvPr/>
        </p:nvSpPr>
        <p:spPr>
          <a:xfrm>
            <a:off x="1508760" y="5230368"/>
            <a:ext cx="0" cy="109728"/>
          </a:xfrm>
          <a:prstGeom prst="line">
            <a:avLst/>
          </a:prstGeom>
          <a:noFill/>
          <a:ln w="7620">
            <a:solidFill>
              <a:srgbClr val="7C3AED"/>
            </a:solidFill>
            <a:prstDash val="sysDash"/>
          </a:ln>
        </p:spPr>
      </p:sp>
      <p:sp>
        <p:nvSpPr>
          <p:cNvPr id="26" name="Shape 24"/>
          <p:cNvSpPr/>
          <p:nvPr/>
        </p:nvSpPr>
        <p:spPr>
          <a:xfrm>
            <a:off x="3017520" y="5230368"/>
            <a:ext cx="0" cy="109728"/>
          </a:xfrm>
          <a:prstGeom prst="line">
            <a:avLst/>
          </a:prstGeom>
          <a:noFill/>
          <a:ln w="7620">
            <a:solidFill>
              <a:srgbClr val="7C3AED"/>
            </a:solidFill>
            <a:prstDash val="sysDash"/>
          </a:ln>
        </p:spPr>
      </p:sp>
      <p:sp>
        <p:nvSpPr>
          <p:cNvPr id="27" name="Shape 25"/>
          <p:cNvSpPr/>
          <p:nvPr/>
        </p:nvSpPr>
        <p:spPr>
          <a:xfrm>
            <a:off x="4526280" y="5230368"/>
            <a:ext cx="0" cy="109728"/>
          </a:xfrm>
          <a:prstGeom prst="line">
            <a:avLst/>
          </a:prstGeom>
          <a:noFill/>
          <a:ln w="7620">
            <a:solidFill>
              <a:srgbClr val="7C3AED"/>
            </a:solidFill>
            <a:prstDash val="sysDash"/>
          </a:ln>
        </p:spPr>
      </p:sp>
      <p:sp>
        <p:nvSpPr>
          <p:cNvPr id="28" name="Shape 26"/>
          <p:cNvSpPr/>
          <p:nvPr/>
        </p:nvSpPr>
        <p:spPr>
          <a:xfrm>
            <a:off x="6035040" y="5230368"/>
            <a:ext cx="0" cy="109728"/>
          </a:xfrm>
          <a:prstGeom prst="line">
            <a:avLst/>
          </a:prstGeom>
          <a:noFill/>
          <a:ln w="7620">
            <a:solidFill>
              <a:srgbClr val="7C3AED"/>
            </a:solidFill>
            <a:prstDash val="sysDash"/>
          </a:ln>
        </p:spPr>
      </p:sp>
      <p:sp>
        <p:nvSpPr>
          <p:cNvPr id="29" name="Shape 27"/>
          <p:cNvSpPr/>
          <p:nvPr/>
        </p:nvSpPr>
        <p:spPr>
          <a:xfrm>
            <a:off x="7543800" y="5230368"/>
            <a:ext cx="0" cy="109728"/>
          </a:xfrm>
          <a:prstGeom prst="line">
            <a:avLst/>
          </a:prstGeom>
          <a:noFill/>
          <a:ln w="7620">
            <a:solidFill>
              <a:srgbClr val="7C3AED"/>
            </a:solidFill>
            <a:prstDash val="sysDash"/>
          </a:ln>
        </p:spPr>
      </p:sp>
      <p:sp>
        <p:nvSpPr>
          <p:cNvPr id="30" name="Shape 28"/>
          <p:cNvSpPr/>
          <p:nvPr/>
        </p:nvSpPr>
        <p:spPr>
          <a:xfrm>
            <a:off x="9052560" y="5230368"/>
            <a:ext cx="0" cy="109728"/>
          </a:xfrm>
          <a:prstGeom prst="line">
            <a:avLst/>
          </a:prstGeom>
          <a:noFill/>
          <a:ln w="7620">
            <a:solidFill>
              <a:srgbClr val="7C3AED"/>
            </a:solidFill>
            <a:prstDash val="sysDash"/>
          </a:ln>
        </p:spPr>
      </p:sp>
      <p:sp>
        <p:nvSpPr>
          <p:cNvPr id="31" name="Shape 29"/>
          <p:cNvSpPr/>
          <p:nvPr/>
        </p:nvSpPr>
        <p:spPr>
          <a:xfrm>
            <a:off x="10561320" y="5230368"/>
            <a:ext cx="0" cy="109728"/>
          </a:xfrm>
          <a:prstGeom prst="line">
            <a:avLst/>
          </a:prstGeom>
          <a:noFill/>
          <a:ln w="7620">
            <a:solidFill>
              <a:srgbClr val="7C3AED"/>
            </a:solidFill>
            <a:prstDash val="sysDash"/>
          </a:ln>
        </p:spPr>
      </p:sp>
      <p:sp>
        <p:nvSpPr>
          <p:cNvPr id="32" name="Shape 30"/>
          <p:cNvSpPr/>
          <p:nvPr/>
        </p:nvSpPr>
        <p:spPr>
          <a:xfrm>
            <a:off x="164592" y="502920"/>
            <a:ext cx="11832336" cy="1417320"/>
          </a:xfrm>
          <a:prstGeom prst="rect">
            <a:avLst/>
          </a:prstGeom>
          <a:solidFill>
            <a:srgbClr val="160D00"/>
          </a:solidFill>
          <a:ln w="19050">
            <a:solidFill>
              <a:srgbClr val="B45309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4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64592" y="502920"/>
            <a:ext cx="64008" cy="1417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38328" y="557784"/>
            <a:ext cx="292608" cy="292608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8328" y="55778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0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04088" y="557784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50" kern="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LAYER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04088" y="722376"/>
            <a:ext cx="1128369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8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enterprise data origins — ERP transactional, HR, procurement, external feeds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365760" y="932688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Systems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347472" y="1106424"/>
            <a:ext cx="1536192" cy="594360"/>
          </a:xfrm>
          <a:prstGeom prst="roundRect">
            <a:avLst>
              <a:gd name="adj" fmla="val 9231"/>
            </a:avLst>
          </a:prstGeom>
          <a:solidFill>
            <a:srgbClr val="1C1000"/>
          </a:solidFill>
          <a:ln w="8890">
            <a:solidFill>
              <a:srgbClr val="B45309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47472" y="1106424"/>
            <a:ext cx="1536192" cy="164592"/>
          </a:xfrm>
          <a:prstGeom prst="rect">
            <a:avLst/>
          </a:prstGeom>
          <a:solidFill>
            <a:srgbClr val="B45309">
              <a:alpha val="70000"/>
            </a:srgbClr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02336" y="1106424"/>
            <a:ext cx="14264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S/4HANA PCE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02336" y="1289304"/>
            <a:ext cx="142646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/ MM / SD</a:t>
            </a:r>
            <a:endParaRPr lang="en-US" sz="650" dirty="0"/>
          </a:p>
          <a:p>
            <a:pPr algn="l" indent="0" marL="0">
              <a:buNone/>
            </a:pPr>
            <a:r>
              <a:rPr lang="en-US" sz="65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CO, PP, PM</a:t>
            </a:r>
            <a:endParaRPr lang="en-US" sz="650" dirty="0"/>
          </a:p>
        </p:txBody>
      </p:sp>
      <p:sp>
        <p:nvSpPr>
          <p:cNvPr id="43" name="Shape 41"/>
          <p:cNvSpPr/>
          <p:nvPr/>
        </p:nvSpPr>
        <p:spPr>
          <a:xfrm>
            <a:off x="2011680" y="1106424"/>
            <a:ext cx="1536192" cy="594360"/>
          </a:xfrm>
          <a:prstGeom prst="roundRect">
            <a:avLst>
              <a:gd name="adj" fmla="val 9231"/>
            </a:avLst>
          </a:prstGeom>
          <a:solidFill>
            <a:srgbClr val="1C1000"/>
          </a:solidFill>
          <a:ln w="8890">
            <a:solidFill>
              <a:srgbClr val="B45309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2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2011680" y="1106424"/>
            <a:ext cx="1536192" cy="164592"/>
          </a:xfrm>
          <a:prstGeom prst="rect">
            <a:avLst/>
          </a:prstGeom>
          <a:solidFill>
            <a:srgbClr val="B45309">
              <a:alpha val="70000"/>
            </a:srgbClr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066544" y="1106424"/>
            <a:ext cx="14264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SuccessFactors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2066544" y="1289304"/>
            <a:ext cx="142646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HCM / Workforce</a:t>
            </a:r>
            <a:endParaRPr lang="en-US" sz="650" dirty="0"/>
          </a:p>
          <a:p>
            <a:pPr algn="l" indent="0" marL="0">
              <a:buNone/>
            </a:pPr>
            <a:r>
              <a:rPr lang="en-US" sz="65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Payroll, Learning</a:t>
            </a:r>
            <a:endParaRPr lang="en-US" sz="650" dirty="0"/>
          </a:p>
        </p:txBody>
      </p:sp>
      <p:sp>
        <p:nvSpPr>
          <p:cNvPr id="47" name="Shape 45"/>
          <p:cNvSpPr/>
          <p:nvPr/>
        </p:nvSpPr>
        <p:spPr>
          <a:xfrm>
            <a:off x="3675888" y="1106424"/>
            <a:ext cx="1536192" cy="594360"/>
          </a:xfrm>
          <a:prstGeom prst="roundRect">
            <a:avLst>
              <a:gd name="adj" fmla="val 9231"/>
            </a:avLst>
          </a:prstGeom>
          <a:solidFill>
            <a:srgbClr val="1C1000"/>
          </a:solidFill>
          <a:ln w="8890">
            <a:solidFill>
              <a:srgbClr val="B45309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2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3675888" y="1106424"/>
            <a:ext cx="1536192" cy="164592"/>
          </a:xfrm>
          <a:prstGeom prst="rect">
            <a:avLst/>
          </a:prstGeom>
          <a:solidFill>
            <a:srgbClr val="B45309">
              <a:alpha val="70000"/>
            </a:srgbClr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730752" y="1106424"/>
            <a:ext cx="14264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SAP Ariba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3730752" y="1289304"/>
            <a:ext cx="142646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</a:t>
            </a:r>
            <a:endParaRPr lang="en-US" sz="650" dirty="0"/>
          </a:p>
          <a:p>
            <a:pPr algn="l" indent="0" marL="0">
              <a:buNone/>
            </a:pPr>
            <a:r>
              <a:rPr lang="en-US" sz="65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network</a:t>
            </a:r>
            <a:endParaRPr lang="en-US" sz="650" dirty="0"/>
          </a:p>
        </p:txBody>
      </p:sp>
      <p:sp>
        <p:nvSpPr>
          <p:cNvPr id="51" name="Shape 49"/>
          <p:cNvSpPr/>
          <p:nvPr/>
        </p:nvSpPr>
        <p:spPr>
          <a:xfrm>
            <a:off x="5340096" y="1106424"/>
            <a:ext cx="1536192" cy="594360"/>
          </a:xfrm>
          <a:prstGeom prst="roundRect">
            <a:avLst>
              <a:gd name="adj" fmla="val 9231"/>
            </a:avLst>
          </a:prstGeom>
          <a:solidFill>
            <a:srgbClr val="1C1000"/>
          </a:solidFill>
          <a:ln w="8890">
            <a:solidFill>
              <a:srgbClr val="B45309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25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5340096" y="1106424"/>
            <a:ext cx="1536192" cy="164592"/>
          </a:xfrm>
          <a:prstGeom prst="rect">
            <a:avLst/>
          </a:prstGeom>
          <a:solidFill>
            <a:srgbClr val="B45309">
              <a:alpha val="70000"/>
            </a:srgbClr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394960" y="1106424"/>
            <a:ext cx="14264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✈️ SAP Concur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5394960" y="1289304"/>
            <a:ext cx="142646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T&amp;E / Expenses</a:t>
            </a:r>
            <a:endParaRPr lang="en-US" sz="650" dirty="0"/>
          </a:p>
          <a:p>
            <a:pPr algn="l" indent="0" marL="0">
              <a:buNone/>
            </a:pPr>
            <a:r>
              <a:rPr lang="en-US" sz="65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trails</a:t>
            </a:r>
            <a:endParaRPr lang="en-US" sz="650" dirty="0"/>
          </a:p>
        </p:txBody>
      </p:sp>
      <p:sp>
        <p:nvSpPr>
          <p:cNvPr id="55" name="Shape 53"/>
          <p:cNvSpPr/>
          <p:nvPr/>
        </p:nvSpPr>
        <p:spPr>
          <a:xfrm>
            <a:off x="7004304" y="1106424"/>
            <a:ext cx="1536192" cy="594360"/>
          </a:xfrm>
          <a:prstGeom prst="roundRect">
            <a:avLst>
              <a:gd name="adj" fmla="val 9231"/>
            </a:avLst>
          </a:prstGeom>
          <a:solidFill>
            <a:srgbClr val="1C1000"/>
          </a:solidFill>
          <a:ln w="8890">
            <a:solidFill>
              <a:srgbClr val="B45309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25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7004304" y="1106424"/>
            <a:ext cx="1536192" cy="164592"/>
          </a:xfrm>
          <a:prstGeom prst="rect">
            <a:avLst/>
          </a:prstGeom>
          <a:solidFill>
            <a:srgbClr val="B45309">
              <a:alpha val="70000"/>
            </a:srgbClr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059168" y="1106424"/>
            <a:ext cx="14264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SAP IBP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7059168" y="1289304"/>
            <a:ext cx="142646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Biz.</a:t>
            </a:r>
            <a:endParaRPr lang="en-US" sz="650" dirty="0"/>
          </a:p>
          <a:p>
            <a:pPr algn="l" indent="0" marL="0">
              <a:buNone/>
            </a:pPr>
            <a:r>
              <a:rPr lang="en-US" sz="65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650" dirty="0"/>
          </a:p>
        </p:txBody>
      </p:sp>
      <p:sp>
        <p:nvSpPr>
          <p:cNvPr id="59" name="Shape 57"/>
          <p:cNvSpPr/>
          <p:nvPr/>
        </p:nvSpPr>
        <p:spPr>
          <a:xfrm>
            <a:off x="8668512" y="1106424"/>
            <a:ext cx="1536192" cy="594360"/>
          </a:xfrm>
          <a:prstGeom prst="roundRect">
            <a:avLst>
              <a:gd name="adj" fmla="val 9231"/>
            </a:avLst>
          </a:prstGeom>
          <a:solidFill>
            <a:srgbClr val="1C1000"/>
          </a:solidFill>
          <a:ln w="8890">
            <a:solidFill>
              <a:srgbClr val="B45309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25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8668512" y="1106424"/>
            <a:ext cx="1536192" cy="164592"/>
          </a:xfrm>
          <a:prstGeom prst="rect">
            <a:avLst/>
          </a:prstGeom>
          <a:solidFill>
            <a:srgbClr val="B45309">
              <a:alpha val="70000"/>
            </a:srgbClr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723376" y="1106424"/>
            <a:ext cx="14264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SAP BW/4HANA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8723376" y="1289304"/>
            <a:ext cx="142646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DWH</a:t>
            </a:r>
            <a:endParaRPr lang="en-US" sz="650" dirty="0"/>
          </a:p>
          <a:p>
            <a:pPr algn="l" indent="0" marL="0">
              <a:buNone/>
            </a:pPr>
            <a:r>
              <a:rPr lang="en-US" sz="65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BEx queries</a:t>
            </a:r>
            <a:endParaRPr lang="en-US" sz="650" dirty="0"/>
          </a:p>
        </p:txBody>
      </p:sp>
      <p:sp>
        <p:nvSpPr>
          <p:cNvPr id="63" name="Shape 61"/>
          <p:cNvSpPr/>
          <p:nvPr/>
        </p:nvSpPr>
        <p:spPr>
          <a:xfrm>
            <a:off x="10332720" y="1106424"/>
            <a:ext cx="1536192" cy="594360"/>
          </a:xfrm>
          <a:prstGeom prst="roundRect">
            <a:avLst>
              <a:gd name="adj" fmla="val 9231"/>
            </a:avLst>
          </a:prstGeom>
          <a:solidFill>
            <a:srgbClr val="1C1000"/>
          </a:solidFill>
          <a:ln w="8890">
            <a:solidFill>
              <a:srgbClr val="B45309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25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10332720" y="1106424"/>
            <a:ext cx="1536192" cy="164592"/>
          </a:xfrm>
          <a:prstGeom prst="rect">
            <a:avLst/>
          </a:prstGeom>
          <a:solidFill>
            <a:srgbClr val="B45309">
              <a:alpha val="70000"/>
            </a:srgbClr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0387584" y="1106424"/>
            <a:ext cx="14264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SAP Business</a:t>
            </a:r>
            <a:endParaRPr lang="en-US" sz="750" dirty="0"/>
          </a:p>
          <a:p>
            <a:pPr algn="l" indent="0" marL="0">
              <a:buNone/>
            </a:pPr>
            <a:r>
              <a:rPr lang="en-US" sz="7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Networks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10387584" y="1289304"/>
            <a:ext cx="142646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</a:t>
            </a:r>
            <a:endParaRPr lang="en-US" sz="650" dirty="0"/>
          </a:p>
          <a:p>
            <a:pPr algn="l" indent="0" marL="0">
              <a:buNone/>
            </a:pPr>
            <a:r>
              <a:rPr lang="en-US" sz="65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</a:t>
            </a:r>
            <a:endParaRPr lang="en-US" sz="650" dirty="0"/>
          </a:p>
        </p:txBody>
      </p:sp>
      <p:sp>
        <p:nvSpPr>
          <p:cNvPr id="67" name="Text 65"/>
          <p:cNvSpPr/>
          <p:nvPr/>
        </p:nvSpPr>
        <p:spPr>
          <a:xfrm>
            <a:off x="365760" y="1746504"/>
            <a:ext cx="14630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&amp; Non-SAP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347472" y="1728216"/>
            <a:ext cx="1536192" cy="164592"/>
          </a:xfrm>
          <a:prstGeom prst="roundRect">
            <a:avLst>
              <a:gd name="adj" fmla="val 22222"/>
            </a:avLst>
          </a:prstGeom>
          <a:solidFill>
            <a:srgbClr val="151515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02336" y="1728216"/>
            <a:ext cx="142646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2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 / OneDrive</a:t>
            </a:r>
            <a:endParaRPr lang="en-US" sz="620" dirty="0"/>
          </a:p>
        </p:txBody>
      </p:sp>
      <p:sp>
        <p:nvSpPr>
          <p:cNvPr id="70" name="Shape 68"/>
          <p:cNvSpPr/>
          <p:nvPr/>
        </p:nvSpPr>
        <p:spPr>
          <a:xfrm>
            <a:off x="2011680" y="1728216"/>
            <a:ext cx="1536192" cy="164592"/>
          </a:xfrm>
          <a:prstGeom prst="roundRect">
            <a:avLst>
              <a:gd name="adj" fmla="val 22222"/>
            </a:avLst>
          </a:prstGeom>
          <a:solidFill>
            <a:srgbClr val="151515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066544" y="1728216"/>
            <a:ext cx="142646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2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Server (NFS/SMB)</a:t>
            </a:r>
            <a:endParaRPr lang="en-US" sz="620" dirty="0"/>
          </a:p>
        </p:txBody>
      </p:sp>
      <p:sp>
        <p:nvSpPr>
          <p:cNvPr id="72" name="Shape 70"/>
          <p:cNvSpPr/>
          <p:nvPr/>
        </p:nvSpPr>
        <p:spPr>
          <a:xfrm>
            <a:off x="3675888" y="1728216"/>
            <a:ext cx="1536192" cy="164592"/>
          </a:xfrm>
          <a:prstGeom prst="roundRect">
            <a:avLst>
              <a:gd name="adj" fmla="val 22222"/>
            </a:avLst>
          </a:prstGeom>
          <a:solidFill>
            <a:srgbClr val="151515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730752" y="1728216"/>
            <a:ext cx="142646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2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Data Lake</a:t>
            </a:r>
            <a:endParaRPr lang="en-US" sz="620" dirty="0"/>
          </a:p>
        </p:txBody>
      </p:sp>
      <p:sp>
        <p:nvSpPr>
          <p:cNvPr id="74" name="Shape 72"/>
          <p:cNvSpPr/>
          <p:nvPr/>
        </p:nvSpPr>
        <p:spPr>
          <a:xfrm>
            <a:off x="5340096" y="1728216"/>
            <a:ext cx="1536192" cy="164592"/>
          </a:xfrm>
          <a:prstGeom prst="roundRect">
            <a:avLst>
              <a:gd name="adj" fmla="val 22222"/>
            </a:avLst>
          </a:prstGeom>
          <a:solidFill>
            <a:srgbClr val="151515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394960" y="1728216"/>
            <a:ext cx="142646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2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CRM</a:t>
            </a:r>
            <a:endParaRPr lang="en-US" sz="620" dirty="0"/>
          </a:p>
        </p:txBody>
      </p:sp>
      <p:sp>
        <p:nvSpPr>
          <p:cNvPr id="76" name="Shape 74"/>
          <p:cNvSpPr/>
          <p:nvPr/>
        </p:nvSpPr>
        <p:spPr>
          <a:xfrm>
            <a:off x="7004304" y="1728216"/>
            <a:ext cx="1536192" cy="164592"/>
          </a:xfrm>
          <a:prstGeom prst="roundRect">
            <a:avLst>
              <a:gd name="adj" fmla="val 22222"/>
            </a:avLst>
          </a:prstGeom>
          <a:solidFill>
            <a:srgbClr val="151515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059168" y="1728216"/>
            <a:ext cx="142646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2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3rd-Party APIs (REST)</a:t>
            </a:r>
            <a:endParaRPr lang="en-US" sz="620" dirty="0"/>
          </a:p>
        </p:txBody>
      </p:sp>
      <p:sp>
        <p:nvSpPr>
          <p:cNvPr id="78" name="Shape 76"/>
          <p:cNvSpPr/>
          <p:nvPr/>
        </p:nvSpPr>
        <p:spPr>
          <a:xfrm>
            <a:off x="8668512" y="1728216"/>
            <a:ext cx="1536192" cy="164592"/>
          </a:xfrm>
          <a:prstGeom prst="roundRect">
            <a:avLst>
              <a:gd name="adj" fmla="val 22222"/>
            </a:avLst>
          </a:prstGeom>
          <a:solidFill>
            <a:srgbClr val="151515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723376" y="1728216"/>
            <a:ext cx="142646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2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/ Sensor Streams</a:t>
            </a:r>
            <a:endParaRPr lang="en-US" sz="620" dirty="0"/>
          </a:p>
        </p:txBody>
      </p:sp>
      <p:sp>
        <p:nvSpPr>
          <p:cNvPr id="80" name="Shape 78"/>
          <p:cNvSpPr/>
          <p:nvPr/>
        </p:nvSpPr>
        <p:spPr>
          <a:xfrm>
            <a:off x="10332720" y="1728216"/>
            <a:ext cx="1536192" cy="164592"/>
          </a:xfrm>
          <a:prstGeom prst="roundRect">
            <a:avLst>
              <a:gd name="adj" fmla="val 22222"/>
            </a:avLst>
          </a:prstGeom>
          <a:solidFill>
            <a:srgbClr val="151515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0387584" y="1728216"/>
            <a:ext cx="142646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2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/ Social Data</a:t>
            </a:r>
            <a:endParaRPr lang="en-US" sz="620" dirty="0"/>
          </a:p>
        </p:txBody>
      </p:sp>
      <p:sp>
        <p:nvSpPr>
          <p:cNvPr id="82" name="Shape 80"/>
          <p:cNvSpPr/>
          <p:nvPr/>
        </p:nvSpPr>
        <p:spPr>
          <a:xfrm>
            <a:off x="164592" y="2029968"/>
            <a:ext cx="11832336" cy="1627632"/>
          </a:xfrm>
          <a:prstGeom prst="rect">
            <a:avLst/>
          </a:prstGeom>
          <a:solidFill>
            <a:srgbClr val="011820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45000"/>
              </a:srgbClr>
            </a:outerShdw>
          </a:effectLst>
        </p:spPr>
      </p:sp>
      <p:sp>
        <p:nvSpPr>
          <p:cNvPr id="83" name="Shape 81"/>
          <p:cNvSpPr/>
          <p:nvPr/>
        </p:nvSpPr>
        <p:spPr>
          <a:xfrm>
            <a:off x="164592" y="2029968"/>
            <a:ext cx="64008" cy="16276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38328" y="2084832"/>
            <a:ext cx="292608" cy="292608"/>
          </a:xfrm>
          <a:prstGeom prst="ellipse">
            <a:avLst/>
          </a:prstGeom>
          <a:solidFill>
            <a:srgbClr val="67E8F9"/>
          </a:solidFill>
          <a:ln w="12700">
            <a:solidFill>
              <a:srgbClr val="67E8F9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338328" y="20848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1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704088" y="208483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50" kern="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BDC / DATA LAYER  —  SAP Business Data Cloud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704088" y="2249424"/>
            <a:ext cx="1128369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8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data fabric: ingestion, harmonisation, semantic modelling, data products</a:t>
            </a:r>
            <a:endParaRPr lang="en-US" sz="680" dirty="0"/>
          </a:p>
        </p:txBody>
      </p:sp>
      <p:sp>
        <p:nvSpPr>
          <p:cNvPr id="88" name="Shape 86"/>
          <p:cNvSpPr/>
          <p:nvPr/>
        </p:nvSpPr>
        <p:spPr>
          <a:xfrm>
            <a:off x="274320" y="2414016"/>
            <a:ext cx="2423160" cy="1170432"/>
          </a:xfrm>
          <a:prstGeom prst="roundRect">
            <a:avLst>
              <a:gd name="adj" fmla="val 5469"/>
            </a:avLst>
          </a:prstGeom>
          <a:solidFill>
            <a:srgbClr val="021520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65760" y="2432304"/>
            <a:ext cx="2240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&amp; Replication</a:t>
            </a:r>
            <a:endParaRPr lang="en-US" sz="700" dirty="0"/>
          </a:p>
        </p:txBody>
      </p:sp>
      <p:sp>
        <p:nvSpPr>
          <p:cNvPr id="90" name="Shape 88"/>
          <p:cNvSpPr/>
          <p:nvPr/>
        </p:nvSpPr>
        <p:spPr>
          <a:xfrm>
            <a:off x="2788920" y="2414016"/>
            <a:ext cx="2423160" cy="1170432"/>
          </a:xfrm>
          <a:prstGeom prst="roundRect">
            <a:avLst>
              <a:gd name="adj" fmla="val 5469"/>
            </a:avLst>
          </a:prstGeom>
          <a:solidFill>
            <a:srgbClr val="021520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2880360" y="2432304"/>
            <a:ext cx="2240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&amp; Storage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5303520" y="2414016"/>
            <a:ext cx="2423160" cy="1170432"/>
          </a:xfrm>
          <a:prstGeom prst="roundRect">
            <a:avLst>
              <a:gd name="adj" fmla="val 5469"/>
            </a:avLst>
          </a:prstGeom>
          <a:solidFill>
            <a:srgbClr val="021520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394960" y="2432304"/>
            <a:ext cx="2240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&amp; Knowledge</a:t>
            </a:r>
            <a:endParaRPr lang="en-US" sz="700" dirty="0"/>
          </a:p>
        </p:txBody>
      </p:sp>
      <p:sp>
        <p:nvSpPr>
          <p:cNvPr id="94" name="Shape 92"/>
          <p:cNvSpPr/>
          <p:nvPr/>
        </p:nvSpPr>
        <p:spPr>
          <a:xfrm>
            <a:off x="7818120" y="2414016"/>
            <a:ext cx="2423160" cy="1170432"/>
          </a:xfrm>
          <a:prstGeom prst="roundRect">
            <a:avLst>
              <a:gd name="adj" fmla="val 5469"/>
            </a:avLst>
          </a:prstGeom>
          <a:solidFill>
            <a:srgbClr val="021520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7909560" y="2432304"/>
            <a:ext cx="2240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Products</a:t>
            </a:r>
            <a:endParaRPr lang="en-US" sz="700" dirty="0"/>
          </a:p>
        </p:txBody>
      </p:sp>
      <p:sp>
        <p:nvSpPr>
          <p:cNvPr id="96" name="Shape 94"/>
          <p:cNvSpPr/>
          <p:nvPr/>
        </p:nvSpPr>
        <p:spPr>
          <a:xfrm>
            <a:off x="10332720" y="2414016"/>
            <a:ext cx="1600200" cy="1170432"/>
          </a:xfrm>
          <a:prstGeom prst="roundRect">
            <a:avLst>
              <a:gd name="adj" fmla="val 5469"/>
            </a:avLst>
          </a:prstGeom>
          <a:solidFill>
            <a:srgbClr val="021520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10424160" y="2432304"/>
            <a:ext cx="1417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700" dirty="0"/>
          </a:p>
        </p:txBody>
      </p:sp>
      <p:sp>
        <p:nvSpPr>
          <p:cNvPr id="98" name="Shape 96"/>
          <p:cNvSpPr/>
          <p:nvPr/>
        </p:nvSpPr>
        <p:spPr>
          <a:xfrm>
            <a:off x="347472" y="2651760"/>
            <a:ext cx="2267712" cy="256032"/>
          </a:xfrm>
          <a:prstGeom prst="roundRect">
            <a:avLst>
              <a:gd name="adj" fmla="val 14286"/>
            </a:avLst>
          </a:prstGeom>
          <a:solidFill>
            <a:srgbClr val="032030"/>
          </a:solidFill>
          <a:ln w="5080">
            <a:solidFill>
              <a:srgbClr val="0E749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02336" y="2651760"/>
            <a:ext cx="1280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SLT / ODBC</a:t>
            </a:r>
            <a:endParaRPr lang="en-US" sz="700" dirty="0"/>
          </a:p>
        </p:txBody>
      </p:sp>
      <p:sp>
        <p:nvSpPr>
          <p:cNvPr id="100" name="Text 98"/>
          <p:cNvSpPr/>
          <p:nvPr/>
        </p:nvSpPr>
        <p:spPr>
          <a:xfrm>
            <a:off x="402336" y="2779776"/>
            <a:ext cx="214884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replication</a:t>
            </a:r>
            <a:endParaRPr lang="en-US" sz="600" dirty="0"/>
          </a:p>
        </p:txBody>
      </p:sp>
      <p:sp>
        <p:nvSpPr>
          <p:cNvPr id="101" name="Shape 99"/>
          <p:cNvSpPr/>
          <p:nvPr/>
        </p:nvSpPr>
        <p:spPr>
          <a:xfrm>
            <a:off x="347472" y="2962656"/>
            <a:ext cx="2267712" cy="256032"/>
          </a:xfrm>
          <a:prstGeom prst="roundRect">
            <a:avLst>
              <a:gd name="adj" fmla="val 14286"/>
            </a:avLst>
          </a:prstGeom>
          <a:solidFill>
            <a:srgbClr val="032030"/>
          </a:solidFill>
          <a:ln w="5080">
            <a:solidFill>
              <a:srgbClr val="0E749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402336" y="2962656"/>
            <a:ext cx="1280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ODP / CDS Views</a:t>
            </a:r>
            <a:endParaRPr lang="en-US" sz="700" dirty="0"/>
          </a:p>
        </p:txBody>
      </p:sp>
      <p:sp>
        <p:nvSpPr>
          <p:cNvPr id="103" name="Text 101"/>
          <p:cNvSpPr/>
          <p:nvPr/>
        </p:nvSpPr>
        <p:spPr>
          <a:xfrm>
            <a:off x="402336" y="3090672"/>
            <a:ext cx="214884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extracts</a:t>
            </a:r>
            <a:endParaRPr lang="en-US" sz="600" dirty="0"/>
          </a:p>
        </p:txBody>
      </p:sp>
      <p:sp>
        <p:nvSpPr>
          <p:cNvPr id="104" name="Shape 102"/>
          <p:cNvSpPr/>
          <p:nvPr/>
        </p:nvSpPr>
        <p:spPr>
          <a:xfrm>
            <a:off x="347472" y="3273552"/>
            <a:ext cx="2267712" cy="256032"/>
          </a:xfrm>
          <a:prstGeom prst="roundRect">
            <a:avLst>
              <a:gd name="adj" fmla="val 14286"/>
            </a:avLst>
          </a:prstGeom>
          <a:solidFill>
            <a:srgbClr val="032030"/>
          </a:solidFill>
          <a:ln w="5080">
            <a:solidFill>
              <a:srgbClr val="0E749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02336" y="3273552"/>
            <a:ext cx="1280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Store</a:t>
            </a:r>
            <a:endParaRPr lang="en-US" sz="700" dirty="0"/>
          </a:p>
        </p:txBody>
      </p:sp>
      <p:sp>
        <p:nvSpPr>
          <p:cNvPr id="106" name="Text 104"/>
          <p:cNvSpPr/>
          <p:nvPr/>
        </p:nvSpPr>
        <p:spPr>
          <a:xfrm>
            <a:off x="402336" y="3401568"/>
            <a:ext cx="214884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 / raw landing</a:t>
            </a:r>
            <a:endParaRPr lang="en-US" sz="600" dirty="0"/>
          </a:p>
        </p:txBody>
      </p:sp>
      <p:sp>
        <p:nvSpPr>
          <p:cNvPr id="107" name="Shape 105"/>
          <p:cNvSpPr/>
          <p:nvPr/>
        </p:nvSpPr>
        <p:spPr>
          <a:xfrm>
            <a:off x="2862072" y="2651760"/>
            <a:ext cx="2267712" cy="256032"/>
          </a:xfrm>
          <a:prstGeom prst="roundRect">
            <a:avLst>
              <a:gd name="adj" fmla="val 14286"/>
            </a:avLst>
          </a:prstGeom>
          <a:solidFill>
            <a:srgbClr val="032030"/>
          </a:solidFill>
          <a:ln w="5080">
            <a:solidFill>
              <a:srgbClr val="0E749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2916936" y="2651760"/>
            <a:ext cx="1280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BW PCE</a:t>
            </a:r>
            <a:endParaRPr lang="en-US" sz="700" dirty="0"/>
          </a:p>
        </p:txBody>
      </p:sp>
      <p:sp>
        <p:nvSpPr>
          <p:cNvPr id="109" name="Text 107"/>
          <p:cNvSpPr/>
          <p:nvPr/>
        </p:nvSpPr>
        <p:spPr>
          <a:xfrm>
            <a:off x="2916936" y="2779776"/>
            <a:ext cx="214884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flows + Info Cubes</a:t>
            </a:r>
            <a:endParaRPr lang="en-US" sz="600" dirty="0"/>
          </a:p>
        </p:txBody>
      </p:sp>
      <p:sp>
        <p:nvSpPr>
          <p:cNvPr id="110" name="Shape 108"/>
          <p:cNvSpPr/>
          <p:nvPr/>
        </p:nvSpPr>
        <p:spPr>
          <a:xfrm>
            <a:off x="2862072" y="2962656"/>
            <a:ext cx="2267712" cy="256032"/>
          </a:xfrm>
          <a:prstGeom prst="roundRect">
            <a:avLst>
              <a:gd name="adj" fmla="val 14286"/>
            </a:avLst>
          </a:prstGeom>
          <a:solidFill>
            <a:srgbClr val="032030"/>
          </a:solidFill>
          <a:ln w="5080">
            <a:solidFill>
              <a:srgbClr val="0E7490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2916936" y="2962656"/>
            <a:ext cx="1280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Databricks</a:t>
            </a:r>
            <a:endParaRPr lang="en-US" sz="700" dirty="0"/>
          </a:p>
        </p:txBody>
      </p:sp>
      <p:sp>
        <p:nvSpPr>
          <p:cNvPr id="112" name="Text 110"/>
          <p:cNvSpPr/>
          <p:nvPr/>
        </p:nvSpPr>
        <p:spPr>
          <a:xfrm>
            <a:off x="2916936" y="3090672"/>
            <a:ext cx="214884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Zero-copy Spark + ML</a:t>
            </a:r>
            <a:endParaRPr lang="en-US" sz="600" dirty="0"/>
          </a:p>
        </p:txBody>
      </p:sp>
      <p:sp>
        <p:nvSpPr>
          <p:cNvPr id="113" name="Shape 111"/>
          <p:cNvSpPr/>
          <p:nvPr/>
        </p:nvSpPr>
        <p:spPr>
          <a:xfrm>
            <a:off x="2862072" y="3273552"/>
            <a:ext cx="2267712" cy="256032"/>
          </a:xfrm>
          <a:prstGeom prst="roundRect">
            <a:avLst>
              <a:gd name="adj" fmla="val 14286"/>
            </a:avLst>
          </a:prstGeom>
          <a:solidFill>
            <a:srgbClr val="032030"/>
          </a:solidFill>
          <a:ln w="5080">
            <a:solidFill>
              <a:srgbClr val="0E7490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2916936" y="3273552"/>
            <a:ext cx="1280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HANA Cloud</a:t>
            </a:r>
            <a:endParaRPr lang="en-US" sz="700" dirty="0"/>
          </a:p>
        </p:txBody>
      </p:sp>
      <p:sp>
        <p:nvSpPr>
          <p:cNvPr id="115" name="Text 113"/>
          <p:cNvSpPr/>
          <p:nvPr/>
        </p:nvSpPr>
        <p:spPr>
          <a:xfrm>
            <a:off x="2916936" y="3401568"/>
            <a:ext cx="214884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processing</a:t>
            </a:r>
            <a:endParaRPr lang="en-US" sz="600" dirty="0"/>
          </a:p>
        </p:txBody>
      </p:sp>
      <p:sp>
        <p:nvSpPr>
          <p:cNvPr id="116" name="Shape 114"/>
          <p:cNvSpPr/>
          <p:nvPr/>
        </p:nvSpPr>
        <p:spPr>
          <a:xfrm>
            <a:off x="5376672" y="2651760"/>
            <a:ext cx="2267712" cy="256032"/>
          </a:xfrm>
          <a:prstGeom prst="roundRect">
            <a:avLst>
              <a:gd name="adj" fmla="val 14286"/>
            </a:avLst>
          </a:prstGeom>
          <a:solidFill>
            <a:srgbClr val="032030"/>
          </a:solidFill>
          <a:ln w="5080">
            <a:solidFill>
              <a:srgbClr val="0E7490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5431536" y="2651760"/>
            <a:ext cx="1371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Datasphere</a:t>
            </a:r>
            <a:endParaRPr lang="en-US" sz="700" dirty="0"/>
          </a:p>
        </p:txBody>
      </p:sp>
      <p:sp>
        <p:nvSpPr>
          <p:cNvPr id="118" name="Text 116"/>
          <p:cNvSpPr/>
          <p:nvPr/>
        </p:nvSpPr>
        <p:spPr>
          <a:xfrm>
            <a:off x="5431536" y="2779776"/>
            <a:ext cx="214884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layer + KG</a:t>
            </a:r>
            <a:endParaRPr lang="en-US" sz="600" dirty="0"/>
          </a:p>
        </p:txBody>
      </p:sp>
      <p:sp>
        <p:nvSpPr>
          <p:cNvPr id="119" name="Shape 117"/>
          <p:cNvSpPr/>
          <p:nvPr/>
        </p:nvSpPr>
        <p:spPr>
          <a:xfrm>
            <a:off x="5376672" y="2962656"/>
            <a:ext cx="2267712" cy="256032"/>
          </a:xfrm>
          <a:prstGeom prst="roundRect">
            <a:avLst>
              <a:gd name="adj" fmla="val 14286"/>
            </a:avLst>
          </a:prstGeom>
          <a:solidFill>
            <a:srgbClr val="032030"/>
          </a:solidFill>
          <a:ln w="5080">
            <a:solidFill>
              <a:srgbClr val="0E7490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5431536" y="2962656"/>
            <a:ext cx="1371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Entities</a:t>
            </a:r>
            <a:endParaRPr lang="en-US" sz="700" dirty="0"/>
          </a:p>
        </p:txBody>
      </p:sp>
      <p:sp>
        <p:nvSpPr>
          <p:cNvPr id="121" name="Text 119"/>
          <p:cNvSpPr/>
          <p:nvPr/>
        </p:nvSpPr>
        <p:spPr>
          <a:xfrm>
            <a:off x="5431536" y="3090672"/>
            <a:ext cx="214884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dimensions / KPIs</a:t>
            </a:r>
            <a:endParaRPr lang="en-US" sz="600" dirty="0"/>
          </a:p>
        </p:txBody>
      </p:sp>
      <p:sp>
        <p:nvSpPr>
          <p:cNvPr id="122" name="Shape 120"/>
          <p:cNvSpPr/>
          <p:nvPr/>
        </p:nvSpPr>
        <p:spPr>
          <a:xfrm>
            <a:off x="5376672" y="3273552"/>
            <a:ext cx="2267712" cy="256032"/>
          </a:xfrm>
          <a:prstGeom prst="roundRect">
            <a:avLst>
              <a:gd name="adj" fmla="val 14286"/>
            </a:avLst>
          </a:prstGeom>
          <a:solidFill>
            <a:srgbClr val="032030"/>
          </a:solidFill>
          <a:ln w="5080">
            <a:solidFill>
              <a:srgbClr val="0E7490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5431536" y="3273552"/>
            <a:ext cx="1371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HANA Vector Store</a:t>
            </a:r>
            <a:endParaRPr lang="en-US" sz="700" dirty="0"/>
          </a:p>
        </p:txBody>
      </p:sp>
      <p:sp>
        <p:nvSpPr>
          <p:cNvPr id="124" name="Text 122"/>
          <p:cNvSpPr/>
          <p:nvPr/>
        </p:nvSpPr>
        <p:spPr>
          <a:xfrm>
            <a:off x="5431536" y="3401568"/>
            <a:ext cx="214884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embeddings + search</a:t>
            </a:r>
            <a:endParaRPr lang="en-US" sz="600" dirty="0"/>
          </a:p>
        </p:txBody>
      </p:sp>
      <p:sp>
        <p:nvSpPr>
          <p:cNvPr id="125" name="Shape 123"/>
          <p:cNvSpPr/>
          <p:nvPr/>
        </p:nvSpPr>
        <p:spPr>
          <a:xfrm>
            <a:off x="7891272" y="2651760"/>
            <a:ext cx="2267712" cy="256032"/>
          </a:xfrm>
          <a:prstGeom prst="roundRect">
            <a:avLst>
              <a:gd name="adj" fmla="val 14286"/>
            </a:avLst>
          </a:prstGeom>
          <a:solidFill>
            <a:srgbClr val="032030"/>
          </a:solidFill>
          <a:ln w="5080">
            <a:solidFill>
              <a:srgbClr val="0E7490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7946136" y="2651760"/>
            <a:ext cx="1417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Data Product</a:t>
            </a:r>
            <a:endParaRPr lang="en-US" sz="700" dirty="0"/>
          </a:p>
        </p:txBody>
      </p:sp>
      <p:sp>
        <p:nvSpPr>
          <p:cNvPr id="127" name="Text 125"/>
          <p:cNvSpPr/>
          <p:nvPr/>
        </p:nvSpPr>
        <p:spPr>
          <a:xfrm>
            <a:off x="7946136" y="2779776"/>
            <a:ext cx="214884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P&amp;L, Balance sheet, Cash</a:t>
            </a:r>
            <a:endParaRPr lang="en-US" sz="600" dirty="0"/>
          </a:p>
        </p:txBody>
      </p:sp>
      <p:sp>
        <p:nvSpPr>
          <p:cNvPr id="128" name="Shape 126"/>
          <p:cNvSpPr/>
          <p:nvPr/>
        </p:nvSpPr>
        <p:spPr>
          <a:xfrm>
            <a:off x="7891272" y="2962656"/>
            <a:ext cx="2267712" cy="256032"/>
          </a:xfrm>
          <a:prstGeom prst="roundRect">
            <a:avLst>
              <a:gd name="adj" fmla="val 14286"/>
            </a:avLst>
          </a:prstGeom>
          <a:solidFill>
            <a:srgbClr val="032030"/>
          </a:solidFill>
          <a:ln w="5080">
            <a:solidFill>
              <a:srgbClr val="0E7490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7946136" y="2962656"/>
            <a:ext cx="1417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Product</a:t>
            </a:r>
            <a:endParaRPr lang="en-US" sz="700" dirty="0"/>
          </a:p>
        </p:txBody>
      </p:sp>
      <p:sp>
        <p:nvSpPr>
          <p:cNvPr id="130" name="Text 128"/>
          <p:cNvSpPr/>
          <p:nvPr/>
        </p:nvSpPr>
        <p:spPr>
          <a:xfrm>
            <a:off x="7946136" y="3090672"/>
            <a:ext cx="214884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Inventory, Orders, SLA</a:t>
            </a:r>
            <a:endParaRPr lang="en-US" sz="600" dirty="0"/>
          </a:p>
        </p:txBody>
      </p:sp>
      <p:sp>
        <p:nvSpPr>
          <p:cNvPr id="131" name="Shape 129"/>
          <p:cNvSpPr/>
          <p:nvPr/>
        </p:nvSpPr>
        <p:spPr>
          <a:xfrm>
            <a:off x="7891272" y="3273552"/>
            <a:ext cx="2267712" cy="256032"/>
          </a:xfrm>
          <a:prstGeom prst="roundRect">
            <a:avLst>
              <a:gd name="adj" fmla="val 14286"/>
            </a:avLst>
          </a:prstGeom>
          <a:solidFill>
            <a:srgbClr val="032030"/>
          </a:solidFill>
          <a:ln w="5080">
            <a:solidFill>
              <a:srgbClr val="0E7490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7946136" y="3273552"/>
            <a:ext cx="1417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Product</a:t>
            </a:r>
            <a:endParaRPr lang="en-US" sz="700" dirty="0"/>
          </a:p>
        </p:txBody>
      </p:sp>
      <p:sp>
        <p:nvSpPr>
          <p:cNvPr id="133" name="Text 131"/>
          <p:cNvSpPr/>
          <p:nvPr/>
        </p:nvSpPr>
        <p:spPr>
          <a:xfrm>
            <a:off x="7946136" y="3401568"/>
            <a:ext cx="214884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Headcount, Attrition, Pay</a:t>
            </a:r>
            <a:endParaRPr lang="en-US" sz="600" dirty="0"/>
          </a:p>
        </p:txBody>
      </p:sp>
      <p:sp>
        <p:nvSpPr>
          <p:cNvPr id="134" name="Shape 132"/>
          <p:cNvSpPr/>
          <p:nvPr/>
        </p:nvSpPr>
        <p:spPr>
          <a:xfrm>
            <a:off x="10405872" y="2651760"/>
            <a:ext cx="1444752" cy="228600"/>
          </a:xfrm>
          <a:prstGeom prst="roundRect">
            <a:avLst>
              <a:gd name="adj" fmla="val 12000"/>
            </a:avLst>
          </a:prstGeom>
          <a:solidFill>
            <a:srgbClr val="032030"/>
          </a:solidFill>
          <a:ln w="3810">
            <a:solidFill>
              <a:srgbClr val="0E7490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10405872" y="2651760"/>
            <a:ext cx="14447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Catalog</a:t>
            </a:r>
            <a:endParaRPr lang="en-US" sz="650" dirty="0"/>
          </a:p>
        </p:txBody>
      </p:sp>
      <p:sp>
        <p:nvSpPr>
          <p:cNvPr id="136" name="Shape 134"/>
          <p:cNvSpPr/>
          <p:nvPr/>
        </p:nvSpPr>
        <p:spPr>
          <a:xfrm>
            <a:off x="10405872" y="2944368"/>
            <a:ext cx="1444752" cy="228600"/>
          </a:xfrm>
          <a:prstGeom prst="roundRect">
            <a:avLst>
              <a:gd name="adj" fmla="val 12000"/>
            </a:avLst>
          </a:prstGeom>
          <a:solidFill>
            <a:srgbClr val="032030"/>
          </a:solidFill>
          <a:ln w="3810">
            <a:solidFill>
              <a:srgbClr val="0E7490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10405872" y="2944368"/>
            <a:ext cx="14447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 Tracking</a:t>
            </a:r>
            <a:endParaRPr lang="en-US" sz="650" dirty="0"/>
          </a:p>
        </p:txBody>
      </p:sp>
      <p:sp>
        <p:nvSpPr>
          <p:cNvPr id="138" name="Shape 136"/>
          <p:cNvSpPr/>
          <p:nvPr/>
        </p:nvSpPr>
        <p:spPr>
          <a:xfrm>
            <a:off x="10405872" y="3236976"/>
            <a:ext cx="1444752" cy="228600"/>
          </a:xfrm>
          <a:prstGeom prst="roundRect">
            <a:avLst>
              <a:gd name="adj" fmla="val 12000"/>
            </a:avLst>
          </a:prstGeom>
          <a:solidFill>
            <a:srgbClr val="032030"/>
          </a:solidFill>
          <a:ln w="3810">
            <a:solidFill>
              <a:srgbClr val="0E7490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10405872" y="3236976"/>
            <a:ext cx="14447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Policies</a:t>
            </a:r>
            <a:endParaRPr lang="en-US" sz="650" dirty="0"/>
          </a:p>
        </p:txBody>
      </p:sp>
      <p:sp>
        <p:nvSpPr>
          <p:cNvPr id="140" name="Shape 138"/>
          <p:cNvSpPr/>
          <p:nvPr/>
        </p:nvSpPr>
        <p:spPr>
          <a:xfrm>
            <a:off x="10405872" y="3529584"/>
            <a:ext cx="1444752" cy="228600"/>
          </a:xfrm>
          <a:prstGeom prst="roundRect">
            <a:avLst>
              <a:gd name="adj" fmla="val 12000"/>
            </a:avLst>
          </a:prstGeom>
          <a:solidFill>
            <a:srgbClr val="032030"/>
          </a:solidFill>
          <a:ln w="3810">
            <a:solidFill>
              <a:srgbClr val="0E7490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10405872" y="3529584"/>
            <a:ext cx="14447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Metrics</a:t>
            </a:r>
            <a:endParaRPr lang="en-US" sz="650" dirty="0"/>
          </a:p>
        </p:txBody>
      </p:sp>
      <p:sp>
        <p:nvSpPr>
          <p:cNvPr id="142" name="Shape 140"/>
          <p:cNvSpPr/>
          <p:nvPr/>
        </p:nvSpPr>
        <p:spPr>
          <a:xfrm>
            <a:off x="164592" y="3767328"/>
            <a:ext cx="11832336" cy="1463040"/>
          </a:xfrm>
          <a:prstGeom prst="rect">
            <a:avLst/>
          </a:prstGeom>
          <a:solidFill>
            <a:srgbClr val="0E0720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45000"/>
              </a:srgbClr>
            </a:outerShdw>
          </a:effectLst>
        </p:spPr>
      </p:sp>
      <p:sp>
        <p:nvSpPr>
          <p:cNvPr id="143" name="Shape 141"/>
          <p:cNvSpPr/>
          <p:nvPr/>
        </p:nvSpPr>
        <p:spPr>
          <a:xfrm>
            <a:off x="164592" y="3767328"/>
            <a:ext cx="64008" cy="1463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338328" y="3822192"/>
            <a:ext cx="292608" cy="292608"/>
          </a:xfrm>
          <a:prstGeom prst="ellipse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338328" y="38221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0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46" name="Text 144"/>
          <p:cNvSpPr/>
          <p:nvPr/>
        </p:nvSpPr>
        <p:spPr>
          <a:xfrm>
            <a:off x="704088" y="382219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50" kern="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LAYER</a:t>
            </a:r>
            <a:endParaRPr lang="en-US" sz="1000" dirty="0"/>
          </a:p>
        </p:txBody>
      </p:sp>
      <p:sp>
        <p:nvSpPr>
          <p:cNvPr id="147" name="Text 145"/>
          <p:cNvSpPr/>
          <p:nvPr/>
        </p:nvSpPr>
        <p:spPr>
          <a:xfrm>
            <a:off x="704088" y="3986784"/>
            <a:ext cx="1128369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8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Specialised analytics agents — each consumes BDC data products, orchestrated by LangGraph on SAP BTP</a:t>
            </a:r>
            <a:endParaRPr lang="en-US" sz="680" dirty="0"/>
          </a:p>
        </p:txBody>
      </p:sp>
      <p:sp>
        <p:nvSpPr>
          <p:cNvPr id="148" name="Shape 146"/>
          <p:cNvSpPr/>
          <p:nvPr/>
        </p:nvSpPr>
        <p:spPr>
          <a:xfrm>
            <a:off x="274320" y="4160520"/>
            <a:ext cx="11731752" cy="201168"/>
          </a:xfrm>
          <a:prstGeom prst="rect">
            <a:avLst/>
          </a:prstGeom>
          <a:solidFill>
            <a:srgbClr val="1A0A3A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365760" y="4160520"/>
            <a:ext cx="11521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30" kern="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 —  LangGraph Multi-Agent Router  |  Tool Dispatcher  |  Memory &amp; Context Manager  |  Guardrail + SAP IAS Policy Layer</a:t>
            </a:r>
            <a:endParaRPr lang="en-US" sz="700" dirty="0"/>
          </a:p>
        </p:txBody>
      </p:sp>
      <p:sp>
        <p:nvSpPr>
          <p:cNvPr id="150" name="Shape 148"/>
          <p:cNvSpPr/>
          <p:nvPr/>
        </p:nvSpPr>
        <p:spPr>
          <a:xfrm>
            <a:off x="274320" y="4407408"/>
            <a:ext cx="2779776" cy="859536"/>
          </a:xfrm>
          <a:prstGeom prst="rect">
            <a:avLst/>
          </a:prstGeom>
          <a:solidFill>
            <a:srgbClr val="011428"/>
          </a:solidFill>
          <a:ln w="16510">
            <a:solidFill>
              <a:srgbClr val="0369A1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25000"/>
              </a:srgbClr>
            </a:outerShdw>
          </a:effectLst>
        </p:spPr>
      </p:sp>
      <p:sp>
        <p:nvSpPr>
          <p:cNvPr id="151" name="Shape 149"/>
          <p:cNvSpPr/>
          <p:nvPr/>
        </p:nvSpPr>
        <p:spPr>
          <a:xfrm>
            <a:off x="274320" y="4407408"/>
            <a:ext cx="2779776" cy="20116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2093976" y="4425696"/>
            <a:ext cx="914400" cy="155448"/>
          </a:xfrm>
          <a:prstGeom prst="roundRect">
            <a:avLst>
              <a:gd name="adj" fmla="val 17647"/>
            </a:avLst>
          </a:prstGeom>
          <a:solidFill>
            <a:srgbClr val="011428"/>
          </a:solidFill>
          <a:ln w="12700">
            <a:solidFill>
              <a:srgbClr val="011428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2093976" y="4425696"/>
            <a:ext cx="9144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Ops</a:t>
            </a:r>
            <a:endParaRPr lang="en-US" sz="580" dirty="0"/>
          </a:p>
        </p:txBody>
      </p:sp>
      <p:sp>
        <p:nvSpPr>
          <p:cNvPr id="154" name="Text 152"/>
          <p:cNvSpPr/>
          <p:nvPr/>
        </p:nvSpPr>
        <p:spPr>
          <a:xfrm>
            <a:off x="347472" y="4407408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Ingestion</a:t>
            </a:r>
            <a:endParaRPr lang="en-US" sz="800" dirty="0"/>
          </a:p>
          <a:p>
            <a:pPr algn="l" indent="0" marL="0">
              <a:buNone/>
            </a:pPr>
            <a:r>
              <a:rPr lang="en-US" sz="800" b="1" dirty="0">
                <a:solidFill>
                  <a:srgbClr val="0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Agent</a:t>
            </a:r>
            <a:endParaRPr lang="en-US" sz="800" dirty="0"/>
          </a:p>
        </p:txBody>
      </p:sp>
      <p:sp>
        <p:nvSpPr>
          <p:cNvPr id="155" name="Text 153"/>
          <p:cNvSpPr/>
          <p:nvPr/>
        </p:nvSpPr>
        <p:spPr>
          <a:xfrm>
            <a:off x="329184" y="464515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🔄</a:t>
            </a:r>
            <a:endParaRPr lang="en-US" sz="900" dirty="0"/>
          </a:p>
        </p:txBody>
      </p:sp>
      <p:sp>
        <p:nvSpPr>
          <p:cNvPr id="156" name="Text 154"/>
          <p:cNvSpPr/>
          <p:nvPr/>
        </p:nvSpPr>
        <p:spPr>
          <a:xfrm>
            <a:off x="521208" y="4645152"/>
            <a:ext cx="12801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Health Monitor</a:t>
            </a:r>
            <a:endParaRPr lang="en-US" sz="680" dirty="0"/>
          </a:p>
        </p:txBody>
      </p:sp>
      <p:sp>
        <p:nvSpPr>
          <p:cNvPr id="157" name="Text 155"/>
          <p:cNvSpPr/>
          <p:nvPr/>
        </p:nvSpPr>
        <p:spPr>
          <a:xfrm>
            <a:off x="521208" y="4736592"/>
            <a:ext cx="2487168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SLT, ODP, Object Store job status in real-time</a:t>
            </a:r>
            <a:endParaRPr lang="en-US" sz="580" dirty="0"/>
          </a:p>
        </p:txBody>
      </p:sp>
      <p:sp>
        <p:nvSpPr>
          <p:cNvPr id="158" name="Text 156"/>
          <p:cNvSpPr/>
          <p:nvPr/>
        </p:nvSpPr>
        <p:spPr>
          <a:xfrm>
            <a:off x="329184" y="484632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⚠️</a:t>
            </a:r>
            <a:endParaRPr lang="en-US" sz="900" dirty="0"/>
          </a:p>
        </p:txBody>
      </p:sp>
      <p:sp>
        <p:nvSpPr>
          <p:cNvPr id="159" name="Text 157"/>
          <p:cNvSpPr/>
          <p:nvPr/>
        </p:nvSpPr>
        <p:spPr>
          <a:xfrm>
            <a:off x="521208" y="4846320"/>
            <a:ext cx="12801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&amp; Delay Detection</a:t>
            </a:r>
            <a:endParaRPr lang="en-US" sz="680" dirty="0"/>
          </a:p>
        </p:txBody>
      </p:sp>
      <p:sp>
        <p:nvSpPr>
          <p:cNvPr id="160" name="Text 158"/>
          <p:cNvSpPr/>
          <p:nvPr/>
        </p:nvSpPr>
        <p:spPr>
          <a:xfrm>
            <a:off x="521208" y="4937760"/>
            <a:ext cx="2487168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late arrivals, schema drift, volume deviations</a:t>
            </a:r>
            <a:endParaRPr lang="en-US" sz="580" dirty="0"/>
          </a:p>
        </p:txBody>
      </p:sp>
      <p:sp>
        <p:nvSpPr>
          <p:cNvPr id="161" name="Text 159"/>
          <p:cNvSpPr/>
          <p:nvPr/>
        </p:nvSpPr>
        <p:spPr>
          <a:xfrm>
            <a:off x="329184" y="504748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📊</a:t>
            </a:r>
            <a:endParaRPr lang="en-US" sz="900" dirty="0"/>
          </a:p>
        </p:txBody>
      </p:sp>
      <p:sp>
        <p:nvSpPr>
          <p:cNvPr id="162" name="Text 160"/>
          <p:cNvSpPr/>
          <p:nvPr/>
        </p:nvSpPr>
        <p:spPr>
          <a:xfrm>
            <a:off x="521208" y="5047488"/>
            <a:ext cx="12801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Freshness Reporting</a:t>
            </a:r>
            <a:endParaRPr lang="en-US" sz="680" dirty="0"/>
          </a:p>
        </p:txBody>
      </p:sp>
      <p:sp>
        <p:nvSpPr>
          <p:cNvPr id="163" name="Text 161"/>
          <p:cNvSpPr/>
          <p:nvPr/>
        </p:nvSpPr>
        <p:spPr>
          <a:xfrm>
            <a:off x="521208" y="5138928"/>
            <a:ext cx="2487168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scorecard per data product — auto-escalation</a:t>
            </a:r>
            <a:endParaRPr lang="en-US" sz="580" dirty="0"/>
          </a:p>
        </p:txBody>
      </p:sp>
      <p:sp>
        <p:nvSpPr>
          <p:cNvPr id="164" name="Shape 162"/>
          <p:cNvSpPr/>
          <p:nvPr/>
        </p:nvSpPr>
        <p:spPr>
          <a:xfrm>
            <a:off x="274320" y="5193792"/>
            <a:ext cx="2779776" cy="128016"/>
          </a:xfrm>
          <a:prstGeom prst="rect">
            <a:avLst/>
          </a:prstGeom>
          <a:solidFill>
            <a:srgbClr val="0369A1">
              <a:alpha val="18000"/>
            </a:srgbClr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329184" y="5193792"/>
            <a:ext cx="270662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80" i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BDC API  ·  Event Mesh  ·  BTP Alert Notif.</a:t>
            </a:r>
            <a:endParaRPr lang="en-US" sz="580" dirty="0"/>
          </a:p>
        </p:txBody>
      </p:sp>
      <p:sp>
        <p:nvSpPr>
          <p:cNvPr id="166" name="Shape 164"/>
          <p:cNvSpPr/>
          <p:nvPr/>
        </p:nvSpPr>
        <p:spPr>
          <a:xfrm>
            <a:off x="3182112" y="4407408"/>
            <a:ext cx="2779776" cy="859536"/>
          </a:xfrm>
          <a:prstGeom prst="rect">
            <a:avLst/>
          </a:prstGeom>
          <a:solidFill>
            <a:srgbClr val="011410"/>
          </a:solidFill>
          <a:ln w="16510">
            <a:solidFill>
              <a:srgbClr val="065F46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25000"/>
              </a:srgbClr>
            </a:outerShdw>
          </a:effectLst>
        </p:spPr>
      </p:sp>
      <p:sp>
        <p:nvSpPr>
          <p:cNvPr id="167" name="Shape 165"/>
          <p:cNvSpPr/>
          <p:nvPr/>
        </p:nvSpPr>
        <p:spPr>
          <a:xfrm>
            <a:off x="3182112" y="4407408"/>
            <a:ext cx="2779776" cy="20116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5001768" y="4425696"/>
            <a:ext cx="914400" cy="155448"/>
          </a:xfrm>
          <a:prstGeom prst="roundRect">
            <a:avLst>
              <a:gd name="adj" fmla="val 17647"/>
            </a:avLst>
          </a:prstGeom>
          <a:solidFill>
            <a:srgbClr val="011410"/>
          </a:solidFill>
          <a:ln w="12700">
            <a:solidFill>
              <a:srgbClr val="011410"/>
            </a:solidFill>
            <a:prstDash val="solid"/>
          </a:ln>
        </p:spPr>
      </p:sp>
      <p:sp>
        <p:nvSpPr>
          <p:cNvPr id="169" name="Text 167"/>
          <p:cNvSpPr/>
          <p:nvPr/>
        </p:nvSpPr>
        <p:spPr>
          <a:xfrm>
            <a:off x="5001768" y="4425696"/>
            <a:ext cx="9144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Automation</a:t>
            </a:r>
            <a:endParaRPr lang="en-US" sz="580" dirty="0"/>
          </a:p>
        </p:txBody>
      </p:sp>
      <p:sp>
        <p:nvSpPr>
          <p:cNvPr id="170" name="Text 168"/>
          <p:cNvSpPr/>
          <p:nvPr/>
        </p:nvSpPr>
        <p:spPr>
          <a:xfrm>
            <a:off x="3255264" y="4407408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1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Data Quality</a:t>
            </a:r>
            <a:endParaRPr lang="en-US" sz="800" dirty="0"/>
          </a:p>
          <a:p>
            <a:pPr algn="l" indent="0" marL="0">
              <a:buNone/>
            </a:pPr>
            <a:r>
              <a:rPr lang="en-US" sz="800" b="1" dirty="0">
                <a:solidFill>
                  <a:srgbClr val="01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800" dirty="0"/>
          </a:p>
        </p:txBody>
      </p:sp>
      <p:sp>
        <p:nvSpPr>
          <p:cNvPr id="171" name="Text 169"/>
          <p:cNvSpPr/>
          <p:nvPr/>
        </p:nvSpPr>
        <p:spPr>
          <a:xfrm>
            <a:off x="3236976" y="464515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🧪</a:t>
            </a:r>
            <a:endParaRPr lang="en-US" sz="900" dirty="0"/>
          </a:p>
        </p:txBody>
      </p:sp>
      <p:sp>
        <p:nvSpPr>
          <p:cNvPr id="172" name="Text 170"/>
          <p:cNvSpPr/>
          <p:nvPr/>
        </p:nvSpPr>
        <p:spPr>
          <a:xfrm>
            <a:off x="3429000" y="4645152"/>
            <a:ext cx="12801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Profiling</a:t>
            </a:r>
            <a:endParaRPr lang="en-US" sz="680" dirty="0"/>
          </a:p>
        </p:txBody>
      </p:sp>
      <p:sp>
        <p:nvSpPr>
          <p:cNvPr id="173" name="Text 171"/>
          <p:cNvSpPr/>
          <p:nvPr/>
        </p:nvSpPr>
        <p:spPr>
          <a:xfrm>
            <a:off x="3429000" y="4736592"/>
            <a:ext cx="2487168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Completeness, uniqueness, validity rules on BDC products</a:t>
            </a:r>
            <a:endParaRPr lang="en-US" sz="580" dirty="0"/>
          </a:p>
        </p:txBody>
      </p:sp>
      <p:sp>
        <p:nvSpPr>
          <p:cNvPr id="174" name="Text 172"/>
          <p:cNvSpPr/>
          <p:nvPr/>
        </p:nvSpPr>
        <p:spPr>
          <a:xfrm>
            <a:off x="3236976" y="484632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🔍</a:t>
            </a:r>
            <a:endParaRPr lang="en-US" sz="900" dirty="0"/>
          </a:p>
        </p:txBody>
      </p:sp>
      <p:sp>
        <p:nvSpPr>
          <p:cNvPr id="175" name="Text 173"/>
          <p:cNvSpPr/>
          <p:nvPr/>
        </p:nvSpPr>
        <p:spPr>
          <a:xfrm>
            <a:off x="3429000" y="4846320"/>
            <a:ext cx="12801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Analysis</a:t>
            </a:r>
            <a:endParaRPr lang="en-US" sz="680" dirty="0"/>
          </a:p>
        </p:txBody>
      </p:sp>
      <p:sp>
        <p:nvSpPr>
          <p:cNvPr id="176" name="Text 174"/>
          <p:cNvSpPr/>
          <p:nvPr/>
        </p:nvSpPr>
        <p:spPr>
          <a:xfrm>
            <a:off x="3429000" y="4937760"/>
            <a:ext cx="2487168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 quality issues back to S/4HANA source fields</a:t>
            </a:r>
            <a:endParaRPr lang="en-US" sz="580" dirty="0"/>
          </a:p>
        </p:txBody>
      </p:sp>
      <p:sp>
        <p:nvSpPr>
          <p:cNvPr id="177" name="Text 175"/>
          <p:cNvSpPr/>
          <p:nvPr/>
        </p:nvSpPr>
        <p:spPr>
          <a:xfrm>
            <a:off x="3236976" y="504748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📋</a:t>
            </a:r>
            <a:endParaRPr lang="en-US" sz="900" dirty="0"/>
          </a:p>
        </p:txBody>
      </p:sp>
      <p:sp>
        <p:nvSpPr>
          <p:cNvPr id="178" name="Text 176"/>
          <p:cNvSpPr/>
          <p:nvPr/>
        </p:nvSpPr>
        <p:spPr>
          <a:xfrm>
            <a:off x="3429000" y="5047488"/>
            <a:ext cx="12801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Rule Management</a:t>
            </a:r>
            <a:endParaRPr lang="en-US" sz="680" dirty="0"/>
          </a:p>
        </p:txBody>
      </p:sp>
      <p:sp>
        <p:nvSpPr>
          <p:cNvPr id="179" name="Text 177"/>
          <p:cNvSpPr/>
          <p:nvPr/>
        </p:nvSpPr>
        <p:spPr>
          <a:xfrm>
            <a:off x="3429000" y="5138928"/>
            <a:ext cx="2487168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+ deploys new rules via Datasphere API</a:t>
            </a:r>
            <a:endParaRPr lang="en-US" sz="580" dirty="0"/>
          </a:p>
        </p:txBody>
      </p:sp>
      <p:sp>
        <p:nvSpPr>
          <p:cNvPr id="180" name="Shape 178"/>
          <p:cNvSpPr/>
          <p:nvPr/>
        </p:nvSpPr>
        <p:spPr>
          <a:xfrm>
            <a:off x="3182112" y="5193792"/>
            <a:ext cx="2779776" cy="128016"/>
          </a:xfrm>
          <a:prstGeom prst="rect">
            <a:avLst/>
          </a:prstGeom>
          <a:solidFill>
            <a:srgbClr val="065F46">
              <a:alpha val="18000"/>
            </a:srgbClr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81" name="Text 179"/>
          <p:cNvSpPr/>
          <p:nvPr/>
        </p:nvSpPr>
        <p:spPr>
          <a:xfrm>
            <a:off x="3236976" y="5193792"/>
            <a:ext cx="270662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80" i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Datasphere API  ·  HANA Cloud  ·  BDC DQ Service</a:t>
            </a:r>
            <a:endParaRPr lang="en-US" sz="580" dirty="0"/>
          </a:p>
        </p:txBody>
      </p:sp>
      <p:sp>
        <p:nvSpPr>
          <p:cNvPr id="182" name="Shape 180"/>
          <p:cNvSpPr/>
          <p:nvPr/>
        </p:nvSpPr>
        <p:spPr>
          <a:xfrm>
            <a:off x="6089904" y="4407408"/>
            <a:ext cx="2779776" cy="859536"/>
          </a:xfrm>
          <a:prstGeom prst="rect">
            <a:avLst/>
          </a:prstGeom>
          <a:solidFill>
            <a:srgbClr val="100520"/>
          </a:solidFill>
          <a:ln w="16510">
            <a:solidFill>
              <a:srgbClr val="6B21A8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25000"/>
              </a:srgbClr>
            </a:outerShdw>
          </a:effectLst>
        </p:spPr>
      </p:sp>
      <p:sp>
        <p:nvSpPr>
          <p:cNvPr id="183" name="Shape 181"/>
          <p:cNvSpPr/>
          <p:nvPr/>
        </p:nvSpPr>
        <p:spPr>
          <a:xfrm>
            <a:off x="6089904" y="4407408"/>
            <a:ext cx="2779776" cy="201168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7909560" y="4425696"/>
            <a:ext cx="914400" cy="155448"/>
          </a:xfrm>
          <a:prstGeom prst="roundRect">
            <a:avLst>
              <a:gd name="adj" fmla="val 17647"/>
            </a:avLst>
          </a:prstGeom>
          <a:solidFill>
            <a:srgbClr val="100520"/>
          </a:solidFill>
          <a:ln w="12700">
            <a:solidFill>
              <a:srgbClr val="100520"/>
            </a:solidFill>
            <a:prstDash val="solid"/>
          </a:ln>
        </p:spPr>
      </p:sp>
      <p:sp>
        <p:nvSpPr>
          <p:cNvPr id="185" name="Text 183"/>
          <p:cNvSpPr/>
          <p:nvPr/>
        </p:nvSpPr>
        <p:spPr>
          <a:xfrm>
            <a:off x="7909560" y="4425696"/>
            <a:ext cx="9144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Enrichment</a:t>
            </a:r>
            <a:endParaRPr lang="en-US" sz="580" dirty="0"/>
          </a:p>
        </p:txBody>
      </p:sp>
      <p:sp>
        <p:nvSpPr>
          <p:cNvPr id="186" name="Text 184"/>
          <p:cNvSpPr/>
          <p:nvPr/>
        </p:nvSpPr>
        <p:spPr>
          <a:xfrm>
            <a:off x="6163056" y="4407408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00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Analytics</a:t>
            </a:r>
            <a:endParaRPr lang="en-US" sz="800" dirty="0"/>
          </a:p>
          <a:p>
            <a:pPr algn="l" indent="0" marL="0">
              <a:buNone/>
            </a:pPr>
            <a:r>
              <a:rPr lang="en-US" sz="800" b="1" dirty="0">
                <a:solidFill>
                  <a:srgbClr val="100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Enrichment Agent</a:t>
            </a:r>
            <a:endParaRPr lang="en-US" sz="800" dirty="0"/>
          </a:p>
        </p:txBody>
      </p:sp>
      <p:sp>
        <p:nvSpPr>
          <p:cNvPr id="187" name="Text 185"/>
          <p:cNvSpPr/>
          <p:nvPr/>
        </p:nvSpPr>
        <p:spPr>
          <a:xfrm>
            <a:off x="6144768" y="464515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🤖</a:t>
            </a:r>
            <a:endParaRPr lang="en-US" sz="900" dirty="0"/>
          </a:p>
        </p:txBody>
      </p:sp>
      <p:sp>
        <p:nvSpPr>
          <p:cNvPr id="188" name="Text 186"/>
          <p:cNvSpPr/>
          <p:nvPr/>
        </p:nvSpPr>
        <p:spPr>
          <a:xfrm>
            <a:off x="6336792" y="4645152"/>
            <a:ext cx="12801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→ BDC Query (Text2SQL)</a:t>
            </a:r>
            <a:endParaRPr lang="en-US" sz="680" dirty="0"/>
          </a:p>
        </p:txBody>
      </p:sp>
      <p:sp>
        <p:nvSpPr>
          <p:cNvPr id="189" name="Text 187"/>
          <p:cNvSpPr/>
          <p:nvPr/>
        </p:nvSpPr>
        <p:spPr>
          <a:xfrm>
            <a:off x="6336792" y="4736592"/>
            <a:ext cx="2487168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Translates business questions to OData via semantic layer</a:t>
            </a:r>
            <a:endParaRPr lang="en-US" sz="580" dirty="0"/>
          </a:p>
        </p:txBody>
      </p:sp>
      <p:sp>
        <p:nvSpPr>
          <p:cNvPr id="190" name="Text 188"/>
          <p:cNvSpPr/>
          <p:nvPr/>
        </p:nvSpPr>
        <p:spPr>
          <a:xfrm>
            <a:off x="6144768" y="484632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💡</a:t>
            </a:r>
            <a:endParaRPr lang="en-US" sz="900" dirty="0"/>
          </a:p>
        </p:txBody>
      </p:sp>
      <p:sp>
        <p:nvSpPr>
          <p:cNvPr id="191" name="Text 189"/>
          <p:cNvSpPr/>
          <p:nvPr/>
        </p:nvSpPr>
        <p:spPr>
          <a:xfrm>
            <a:off x="6336792" y="4846320"/>
            <a:ext cx="12801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Narrative Generation</a:t>
            </a:r>
            <a:endParaRPr lang="en-US" sz="680" dirty="0"/>
          </a:p>
        </p:txBody>
      </p:sp>
      <p:sp>
        <p:nvSpPr>
          <p:cNvPr id="192" name="Text 190"/>
          <p:cNvSpPr/>
          <p:nvPr/>
        </p:nvSpPr>
        <p:spPr>
          <a:xfrm>
            <a:off x="6336792" y="4937760"/>
            <a:ext cx="2487168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AI narrates variances, trends, forecasts via SAC</a:t>
            </a:r>
            <a:endParaRPr lang="en-US" sz="580" dirty="0"/>
          </a:p>
        </p:txBody>
      </p:sp>
      <p:sp>
        <p:nvSpPr>
          <p:cNvPr id="193" name="Text 191"/>
          <p:cNvSpPr/>
          <p:nvPr/>
        </p:nvSpPr>
        <p:spPr>
          <a:xfrm>
            <a:off x="6144768" y="504748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🧩</a:t>
            </a:r>
            <a:endParaRPr lang="en-US" sz="900" dirty="0"/>
          </a:p>
        </p:txBody>
      </p:sp>
      <p:sp>
        <p:nvSpPr>
          <p:cNvPr id="194" name="Text 192"/>
          <p:cNvSpPr/>
          <p:nvPr/>
        </p:nvSpPr>
        <p:spPr>
          <a:xfrm>
            <a:off x="6336792" y="5047488"/>
            <a:ext cx="12801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Cross-Product Correlation</a:t>
            </a:r>
            <a:endParaRPr lang="en-US" sz="680" dirty="0"/>
          </a:p>
        </p:txBody>
      </p:sp>
      <p:sp>
        <p:nvSpPr>
          <p:cNvPr id="195" name="Text 193"/>
          <p:cNvSpPr/>
          <p:nvPr/>
        </p:nvSpPr>
        <p:spPr>
          <a:xfrm>
            <a:off x="6336792" y="5138928"/>
            <a:ext cx="2487168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Finance + Supply Chain + HR data products</a:t>
            </a:r>
            <a:endParaRPr lang="en-US" sz="580" dirty="0"/>
          </a:p>
        </p:txBody>
      </p:sp>
      <p:sp>
        <p:nvSpPr>
          <p:cNvPr id="196" name="Shape 194"/>
          <p:cNvSpPr/>
          <p:nvPr/>
        </p:nvSpPr>
        <p:spPr>
          <a:xfrm>
            <a:off x="6089904" y="5193792"/>
            <a:ext cx="2779776" cy="128016"/>
          </a:xfrm>
          <a:prstGeom prst="rect">
            <a:avLst/>
          </a:prstGeom>
          <a:solidFill>
            <a:srgbClr val="6B21A8">
              <a:alpha val="18000"/>
            </a:srgbClr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197" name="Text 195"/>
          <p:cNvSpPr/>
          <p:nvPr/>
        </p:nvSpPr>
        <p:spPr>
          <a:xfrm>
            <a:off x="6144768" y="5193792"/>
            <a:ext cx="270662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80" i="1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Gen AI Hub  ·  BDC OData  ·  SAC Embed API</a:t>
            </a:r>
            <a:endParaRPr lang="en-US" sz="580" dirty="0"/>
          </a:p>
        </p:txBody>
      </p:sp>
      <p:sp>
        <p:nvSpPr>
          <p:cNvPr id="198" name="Shape 196"/>
          <p:cNvSpPr/>
          <p:nvPr/>
        </p:nvSpPr>
        <p:spPr>
          <a:xfrm>
            <a:off x="8997696" y="4407408"/>
            <a:ext cx="2779776" cy="859536"/>
          </a:xfrm>
          <a:prstGeom prst="rect">
            <a:avLst/>
          </a:prstGeom>
          <a:solidFill>
            <a:srgbClr val="1A0800"/>
          </a:solidFill>
          <a:ln w="16510">
            <a:solidFill>
              <a:srgbClr val="9A3412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25000"/>
              </a:srgbClr>
            </a:outerShdw>
          </a:effectLst>
        </p:spPr>
      </p:sp>
      <p:sp>
        <p:nvSpPr>
          <p:cNvPr id="199" name="Shape 197"/>
          <p:cNvSpPr/>
          <p:nvPr/>
        </p:nvSpPr>
        <p:spPr>
          <a:xfrm>
            <a:off x="8997696" y="4407408"/>
            <a:ext cx="2779776" cy="201168"/>
          </a:xfrm>
          <a:prstGeom prst="rect">
            <a:avLst/>
          </a:prstGeom>
          <a:solidFill>
            <a:srgbClr val="9A3412"/>
          </a:solidFill>
          <a:ln w="12700">
            <a:solidFill>
              <a:srgbClr val="9A3412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10817352" y="4425696"/>
            <a:ext cx="914400" cy="155448"/>
          </a:xfrm>
          <a:prstGeom prst="roundRect">
            <a:avLst>
              <a:gd name="adj" fmla="val 17647"/>
            </a:avLst>
          </a:prstGeom>
          <a:solidFill>
            <a:srgbClr val="1A0800"/>
          </a:solidFill>
          <a:ln w="12700">
            <a:solidFill>
              <a:srgbClr val="1A0800"/>
            </a:solidFill>
            <a:prstDash val="solid"/>
          </a:ln>
        </p:spPr>
      </p:sp>
      <p:sp>
        <p:nvSpPr>
          <p:cNvPr id="201" name="Text 199"/>
          <p:cNvSpPr/>
          <p:nvPr/>
        </p:nvSpPr>
        <p:spPr>
          <a:xfrm>
            <a:off x="10817352" y="4425696"/>
            <a:ext cx="9144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Mile</a:t>
            </a:r>
            <a:endParaRPr lang="en-US" sz="580" dirty="0"/>
          </a:p>
        </p:txBody>
      </p:sp>
      <p:sp>
        <p:nvSpPr>
          <p:cNvPr id="202" name="Text 200"/>
          <p:cNvSpPr/>
          <p:nvPr/>
        </p:nvSpPr>
        <p:spPr>
          <a:xfrm>
            <a:off x="9070848" y="4407408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Insight</a:t>
            </a:r>
            <a:endParaRPr lang="en-US" sz="800" dirty="0"/>
          </a:p>
          <a:p>
            <a:pPr algn="l" indent="0" marL="0">
              <a:buNone/>
            </a:pPr>
            <a:r>
              <a:rPr lang="en-US" sz="800" b="1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Agent</a:t>
            </a:r>
            <a:endParaRPr lang="en-US" sz="800" dirty="0"/>
          </a:p>
        </p:txBody>
      </p:sp>
      <p:sp>
        <p:nvSpPr>
          <p:cNvPr id="203" name="Text 201"/>
          <p:cNvSpPr/>
          <p:nvPr/>
        </p:nvSpPr>
        <p:spPr>
          <a:xfrm>
            <a:off x="9052560" y="464515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📊</a:t>
            </a:r>
            <a:endParaRPr lang="en-US" sz="900" dirty="0"/>
          </a:p>
        </p:txBody>
      </p:sp>
      <p:sp>
        <p:nvSpPr>
          <p:cNvPr id="204" name="Text 202"/>
          <p:cNvSpPr/>
          <p:nvPr/>
        </p:nvSpPr>
        <p:spPr>
          <a:xfrm>
            <a:off x="9244584" y="4645152"/>
            <a:ext cx="12801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 Story Builder</a:t>
            </a:r>
            <a:endParaRPr lang="en-US" sz="680" dirty="0"/>
          </a:p>
        </p:txBody>
      </p:sp>
      <p:sp>
        <p:nvSpPr>
          <p:cNvPr id="205" name="Text 203"/>
          <p:cNvSpPr/>
          <p:nvPr/>
        </p:nvSpPr>
        <p:spPr>
          <a:xfrm>
            <a:off x="9244584" y="4736592"/>
            <a:ext cx="2487168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Auto-generates SAP Analytics Cloud stories from prompts</a:t>
            </a:r>
            <a:endParaRPr lang="en-US" sz="580" dirty="0"/>
          </a:p>
        </p:txBody>
      </p:sp>
      <p:sp>
        <p:nvSpPr>
          <p:cNvPr id="206" name="Text 204"/>
          <p:cNvSpPr/>
          <p:nvPr/>
        </p:nvSpPr>
        <p:spPr>
          <a:xfrm>
            <a:off x="9052560" y="484632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📨</a:t>
            </a:r>
            <a:endParaRPr lang="en-US" sz="900" dirty="0"/>
          </a:p>
        </p:txBody>
      </p:sp>
      <p:sp>
        <p:nvSpPr>
          <p:cNvPr id="207" name="Text 205"/>
          <p:cNvSpPr/>
          <p:nvPr/>
        </p:nvSpPr>
        <p:spPr>
          <a:xfrm>
            <a:off x="9244584" y="4846320"/>
            <a:ext cx="12801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Alerts &amp; Subscriptions</a:t>
            </a:r>
            <a:endParaRPr lang="en-US" sz="680" dirty="0"/>
          </a:p>
        </p:txBody>
      </p:sp>
      <p:sp>
        <p:nvSpPr>
          <p:cNvPr id="208" name="Text 206"/>
          <p:cNvSpPr/>
          <p:nvPr/>
        </p:nvSpPr>
        <p:spPr>
          <a:xfrm>
            <a:off x="9244584" y="4937760"/>
            <a:ext cx="2487168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breach → email / Teams / BTP Workzone</a:t>
            </a:r>
            <a:endParaRPr lang="en-US" sz="580" dirty="0"/>
          </a:p>
        </p:txBody>
      </p:sp>
      <p:sp>
        <p:nvSpPr>
          <p:cNvPr id="209" name="Text 207"/>
          <p:cNvSpPr/>
          <p:nvPr/>
        </p:nvSpPr>
        <p:spPr>
          <a:xfrm>
            <a:off x="9052560" y="504748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🗂️</a:t>
            </a:r>
            <a:endParaRPr lang="en-US" sz="900" dirty="0"/>
          </a:p>
        </p:txBody>
      </p:sp>
      <p:sp>
        <p:nvSpPr>
          <p:cNvPr id="210" name="Text 208"/>
          <p:cNvSpPr/>
          <p:nvPr/>
        </p:nvSpPr>
        <p:spPr>
          <a:xfrm>
            <a:off x="9244584" y="5047488"/>
            <a:ext cx="12801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&amp; Report via MCP</a:t>
            </a:r>
            <a:endParaRPr lang="en-US" sz="680" dirty="0"/>
          </a:p>
        </p:txBody>
      </p:sp>
      <p:sp>
        <p:nvSpPr>
          <p:cNvPr id="211" name="Text 209"/>
          <p:cNvSpPr/>
          <p:nvPr/>
        </p:nvSpPr>
        <p:spPr>
          <a:xfrm>
            <a:off x="9244584" y="5138928"/>
            <a:ext cx="2487168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SharePoint templates, fills with BDC data</a:t>
            </a:r>
            <a:endParaRPr lang="en-US" sz="580" dirty="0"/>
          </a:p>
        </p:txBody>
      </p:sp>
      <p:sp>
        <p:nvSpPr>
          <p:cNvPr id="212" name="Shape 210"/>
          <p:cNvSpPr/>
          <p:nvPr/>
        </p:nvSpPr>
        <p:spPr>
          <a:xfrm>
            <a:off x="8997696" y="5193792"/>
            <a:ext cx="2779776" cy="128016"/>
          </a:xfrm>
          <a:prstGeom prst="rect">
            <a:avLst/>
          </a:prstGeom>
          <a:solidFill>
            <a:srgbClr val="9A3412">
              <a:alpha val="18000"/>
            </a:srgbClr>
          </a:solidFill>
          <a:ln w="12700">
            <a:solidFill>
              <a:srgbClr val="9A3412"/>
            </a:solidFill>
            <a:prstDash val="solid"/>
          </a:ln>
        </p:spPr>
      </p:sp>
      <p:sp>
        <p:nvSpPr>
          <p:cNvPr id="213" name="Text 211"/>
          <p:cNvSpPr/>
          <p:nvPr/>
        </p:nvSpPr>
        <p:spPr>
          <a:xfrm>
            <a:off x="9052560" y="5193792"/>
            <a:ext cx="270662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80" i="1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SAC API  ·  MCP SharePoint  ·  BTP Workzone</a:t>
            </a:r>
            <a:endParaRPr lang="en-US" sz="580" dirty="0"/>
          </a:p>
        </p:txBody>
      </p:sp>
      <p:sp>
        <p:nvSpPr>
          <p:cNvPr id="214" name="Shape 212"/>
          <p:cNvSpPr/>
          <p:nvPr/>
        </p:nvSpPr>
        <p:spPr>
          <a:xfrm>
            <a:off x="164592" y="5340096"/>
            <a:ext cx="11832336" cy="1115568"/>
          </a:xfrm>
          <a:prstGeom prst="rect">
            <a:avLst/>
          </a:prstGeom>
          <a:solidFill>
            <a:srgbClr val="021410"/>
          </a:solidFill>
          <a:ln w="19050">
            <a:solidFill>
              <a:srgbClr val="059669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45000"/>
              </a:srgbClr>
            </a:outerShdw>
          </a:effectLst>
        </p:spPr>
      </p:sp>
      <p:sp>
        <p:nvSpPr>
          <p:cNvPr id="215" name="Shape 213"/>
          <p:cNvSpPr/>
          <p:nvPr/>
        </p:nvSpPr>
        <p:spPr>
          <a:xfrm>
            <a:off x="164592" y="5340096"/>
            <a:ext cx="64008" cy="11155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338328" y="5394960"/>
            <a:ext cx="292608" cy="292608"/>
          </a:xfrm>
          <a:prstGeom prst="ellipse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17" name="Text 215"/>
          <p:cNvSpPr/>
          <p:nvPr/>
        </p:nvSpPr>
        <p:spPr>
          <a:xfrm>
            <a:off x="338328" y="53949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18" name="Text 216"/>
          <p:cNvSpPr/>
          <p:nvPr/>
        </p:nvSpPr>
        <p:spPr>
          <a:xfrm>
            <a:off x="704088" y="5394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50" kern="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MCP LAYER</a:t>
            </a:r>
            <a:endParaRPr lang="en-US" sz="1000" dirty="0"/>
          </a:p>
        </p:txBody>
      </p:sp>
      <p:sp>
        <p:nvSpPr>
          <p:cNvPr id="219" name="Text 217"/>
          <p:cNvSpPr/>
          <p:nvPr/>
        </p:nvSpPr>
        <p:spPr>
          <a:xfrm>
            <a:off x="704088" y="5559552"/>
            <a:ext cx="1128369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8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AI services and unified document / tool access — consumed by all agents above</a:t>
            </a:r>
            <a:endParaRPr lang="en-US" sz="680" dirty="0"/>
          </a:p>
        </p:txBody>
      </p:sp>
      <p:sp>
        <p:nvSpPr>
          <p:cNvPr id="220" name="Shape 218"/>
          <p:cNvSpPr/>
          <p:nvPr/>
        </p:nvSpPr>
        <p:spPr>
          <a:xfrm>
            <a:off x="6236208" y="5733288"/>
            <a:ext cx="0" cy="676656"/>
          </a:xfrm>
          <a:prstGeom prst="line">
            <a:avLst/>
          </a:prstGeom>
          <a:noFill/>
          <a:ln w="12700">
            <a:solidFill>
              <a:srgbClr val="0F4030"/>
            </a:solidFill>
            <a:prstDash val="dash"/>
          </a:ln>
        </p:spPr>
      </p:sp>
      <p:sp>
        <p:nvSpPr>
          <p:cNvPr id="221" name="Text 219"/>
          <p:cNvSpPr/>
          <p:nvPr/>
        </p:nvSpPr>
        <p:spPr>
          <a:xfrm>
            <a:off x="274320" y="5733288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AI Services</a:t>
            </a:r>
            <a:endParaRPr lang="en-US" sz="750" dirty="0"/>
          </a:p>
        </p:txBody>
      </p:sp>
      <p:sp>
        <p:nvSpPr>
          <p:cNvPr id="222" name="Shape 220"/>
          <p:cNvSpPr/>
          <p:nvPr/>
        </p:nvSpPr>
        <p:spPr>
          <a:xfrm>
            <a:off x="274320" y="5925312"/>
            <a:ext cx="914400" cy="676656"/>
          </a:xfrm>
          <a:prstGeom prst="roundRect">
            <a:avLst>
              <a:gd name="adj" fmla="val 8108"/>
            </a:avLst>
          </a:prstGeom>
          <a:solidFill>
            <a:srgbClr val="0A2818"/>
          </a:solidFill>
          <a:ln w="7620">
            <a:solidFill>
              <a:srgbClr val="059669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274320" y="5925312"/>
            <a:ext cx="914400" cy="146304"/>
          </a:xfrm>
          <a:prstGeom prst="rect">
            <a:avLst/>
          </a:prstGeom>
          <a:solidFill>
            <a:srgbClr val="059669">
              <a:alpha val="60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4" name="Text 222"/>
          <p:cNvSpPr/>
          <p:nvPr/>
        </p:nvSpPr>
        <p:spPr>
          <a:xfrm>
            <a:off x="310896" y="5925312"/>
            <a:ext cx="8412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AI Core</a:t>
            </a:r>
            <a:endParaRPr lang="en-US" sz="680" dirty="0"/>
          </a:p>
        </p:txBody>
      </p:sp>
      <p:sp>
        <p:nvSpPr>
          <p:cNvPr id="225" name="Text 223"/>
          <p:cNvSpPr/>
          <p:nvPr/>
        </p:nvSpPr>
        <p:spPr>
          <a:xfrm>
            <a:off x="310896" y="6099048"/>
            <a:ext cx="84124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7FD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hosting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7FD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/ Mistral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7FD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BYOM + fine-tune</a:t>
            </a:r>
            <a:endParaRPr lang="en-US" sz="600" dirty="0"/>
          </a:p>
        </p:txBody>
      </p:sp>
      <p:sp>
        <p:nvSpPr>
          <p:cNvPr id="226" name="Shape 224"/>
          <p:cNvSpPr/>
          <p:nvPr/>
        </p:nvSpPr>
        <p:spPr>
          <a:xfrm>
            <a:off x="1261872" y="5925312"/>
            <a:ext cx="914400" cy="676656"/>
          </a:xfrm>
          <a:prstGeom prst="roundRect">
            <a:avLst>
              <a:gd name="adj" fmla="val 8108"/>
            </a:avLst>
          </a:prstGeom>
          <a:solidFill>
            <a:srgbClr val="0A2818"/>
          </a:solidFill>
          <a:ln w="7620">
            <a:solidFill>
              <a:srgbClr val="059669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1261872" y="5925312"/>
            <a:ext cx="914400" cy="146304"/>
          </a:xfrm>
          <a:prstGeom prst="rect">
            <a:avLst/>
          </a:prstGeom>
          <a:solidFill>
            <a:srgbClr val="059669">
              <a:alpha val="60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8" name="Text 226"/>
          <p:cNvSpPr/>
          <p:nvPr/>
        </p:nvSpPr>
        <p:spPr>
          <a:xfrm>
            <a:off x="1298448" y="5925312"/>
            <a:ext cx="8412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AI Launchpad</a:t>
            </a:r>
            <a:endParaRPr lang="en-US" sz="680" dirty="0"/>
          </a:p>
        </p:txBody>
      </p:sp>
      <p:sp>
        <p:nvSpPr>
          <p:cNvPr id="229" name="Text 227"/>
          <p:cNvSpPr/>
          <p:nvPr/>
        </p:nvSpPr>
        <p:spPr>
          <a:xfrm>
            <a:off x="1298448" y="6099048"/>
            <a:ext cx="84124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7FD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lifecycle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7FD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Exp. tracking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7FD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+ monitor</a:t>
            </a:r>
            <a:endParaRPr lang="en-US" sz="600" dirty="0"/>
          </a:p>
        </p:txBody>
      </p:sp>
      <p:sp>
        <p:nvSpPr>
          <p:cNvPr id="230" name="Shape 228"/>
          <p:cNvSpPr/>
          <p:nvPr/>
        </p:nvSpPr>
        <p:spPr>
          <a:xfrm>
            <a:off x="2249424" y="5925312"/>
            <a:ext cx="914400" cy="676656"/>
          </a:xfrm>
          <a:prstGeom prst="roundRect">
            <a:avLst>
              <a:gd name="adj" fmla="val 8108"/>
            </a:avLst>
          </a:prstGeom>
          <a:solidFill>
            <a:srgbClr val="0A2818"/>
          </a:solidFill>
          <a:ln w="7620">
            <a:solidFill>
              <a:srgbClr val="059669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2249424" y="5925312"/>
            <a:ext cx="914400" cy="146304"/>
          </a:xfrm>
          <a:prstGeom prst="rect">
            <a:avLst/>
          </a:prstGeom>
          <a:solidFill>
            <a:srgbClr val="059669">
              <a:alpha val="60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2" name="Text 230"/>
          <p:cNvSpPr/>
          <p:nvPr/>
        </p:nvSpPr>
        <p:spPr>
          <a:xfrm>
            <a:off x="2286000" y="5925312"/>
            <a:ext cx="8412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Hub</a:t>
            </a:r>
            <a:endParaRPr lang="en-US" sz="680" dirty="0"/>
          </a:p>
        </p:txBody>
      </p:sp>
      <p:sp>
        <p:nvSpPr>
          <p:cNvPr id="233" name="Text 231"/>
          <p:cNvSpPr/>
          <p:nvPr/>
        </p:nvSpPr>
        <p:spPr>
          <a:xfrm>
            <a:off x="2286000" y="6099048"/>
            <a:ext cx="84124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7FD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/ Gemini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7FD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 / Claude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7FD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catalog</a:t>
            </a:r>
            <a:endParaRPr lang="en-US" sz="600" dirty="0"/>
          </a:p>
        </p:txBody>
      </p:sp>
      <p:sp>
        <p:nvSpPr>
          <p:cNvPr id="234" name="Shape 232"/>
          <p:cNvSpPr/>
          <p:nvPr/>
        </p:nvSpPr>
        <p:spPr>
          <a:xfrm>
            <a:off x="3236976" y="5925312"/>
            <a:ext cx="914400" cy="676656"/>
          </a:xfrm>
          <a:prstGeom prst="roundRect">
            <a:avLst>
              <a:gd name="adj" fmla="val 8108"/>
            </a:avLst>
          </a:prstGeom>
          <a:solidFill>
            <a:srgbClr val="0A2818"/>
          </a:solidFill>
          <a:ln w="7620">
            <a:solidFill>
              <a:srgbClr val="059669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3236976" y="5925312"/>
            <a:ext cx="914400" cy="146304"/>
          </a:xfrm>
          <a:prstGeom prst="rect">
            <a:avLst/>
          </a:prstGeom>
          <a:solidFill>
            <a:srgbClr val="059669">
              <a:alpha val="60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6" name="Text 234"/>
          <p:cNvSpPr/>
          <p:nvPr/>
        </p:nvSpPr>
        <p:spPr>
          <a:xfrm>
            <a:off x="3273552" y="5925312"/>
            <a:ext cx="8412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HANA Cloud</a:t>
            </a:r>
            <a:endParaRPr lang="en-US" sz="680" dirty="0"/>
          </a:p>
          <a:p>
            <a:pPr algn="ctr" indent="0" marL="0">
              <a:buNone/>
            </a:pPr>
            <a:r>
              <a:rPr lang="en-US" sz="68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Engine</a:t>
            </a:r>
            <a:endParaRPr lang="en-US" sz="680" dirty="0"/>
          </a:p>
        </p:txBody>
      </p:sp>
      <p:sp>
        <p:nvSpPr>
          <p:cNvPr id="237" name="Text 235"/>
          <p:cNvSpPr/>
          <p:nvPr/>
        </p:nvSpPr>
        <p:spPr>
          <a:xfrm>
            <a:off x="3273552" y="6099048"/>
            <a:ext cx="84124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7FD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embeddings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7FD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retrieval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7FD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similarity</a:t>
            </a:r>
            <a:endParaRPr lang="en-US" sz="600" dirty="0"/>
          </a:p>
        </p:txBody>
      </p:sp>
      <p:sp>
        <p:nvSpPr>
          <p:cNvPr id="238" name="Shape 236"/>
          <p:cNvSpPr/>
          <p:nvPr/>
        </p:nvSpPr>
        <p:spPr>
          <a:xfrm>
            <a:off x="4224528" y="5925312"/>
            <a:ext cx="914400" cy="676656"/>
          </a:xfrm>
          <a:prstGeom prst="roundRect">
            <a:avLst>
              <a:gd name="adj" fmla="val 8108"/>
            </a:avLst>
          </a:prstGeom>
          <a:solidFill>
            <a:srgbClr val="0A2818"/>
          </a:solidFill>
          <a:ln w="7620">
            <a:solidFill>
              <a:srgbClr val="059669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4224528" y="5925312"/>
            <a:ext cx="914400" cy="146304"/>
          </a:xfrm>
          <a:prstGeom prst="rect">
            <a:avLst/>
          </a:prstGeom>
          <a:solidFill>
            <a:srgbClr val="059669">
              <a:alpha val="60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40" name="Text 238"/>
          <p:cNvSpPr/>
          <p:nvPr/>
        </p:nvSpPr>
        <p:spPr>
          <a:xfrm>
            <a:off x="4261104" y="5925312"/>
            <a:ext cx="8412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Analytics</a:t>
            </a:r>
            <a:endParaRPr lang="en-US" sz="680" dirty="0"/>
          </a:p>
          <a:p>
            <a:pPr algn="ctr" indent="0" marL="0">
              <a:buNone/>
            </a:pPr>
            <a:r>
              <a:rPr lang="en-US" sz="68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(SAC)</a:t>
            </a:r>
            <a:endParaRPr lang="en-US" sz="680" dirty="0"/>
          </a:p>
        </p:txBody>
      </p:sp>
      <p:sp>
        <p:nvSpPr>
          <p:cNvPr id="241" name="Text 239"/>
          <p:cNvSpPr/>
          <p:nvPr/>
        </p:nvSpPr>
        <p:spPr>
          <a:xfrm>
            <a:off x="4261104" y="6099048"/>
            <a:ext cx="84124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7FD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analytics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7FD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lang. query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7FD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forecasting</a:t>
            </a:r>
            <a:endParaRPr lang="en-US" sz="600" dirty="0"/>
          </a:p>
        </p:txBody>
      </p:sp>
      <p:sp>
        <p:nvSpPr>
          <p:cNvPr id="242" name="Shape 240"/>
          <p:cNvSpPr/>
          <p:nvPr/>
        </p:nvSpPr>
        <p:spPr>
          <a:xfrm>
            <a:off x="5212080" y="5925312"/>
            <a:ext cx="914400" cy="676656"/>
          </a:xfrm>
          <a:prstGeom prst="roundRect">
            <a:avLst>
              <a:gd name="adj" fmla="val 8108"/>
            </a:avLst>
          </a:prstGeom>
          <a:solidFill>
            <a:srgbClr val="0A2818"/>
          </a:solidFill>
          <a:ln w="7620">
            <a:solidFill>
              <a:srgbClr val="059669"/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5212080" y="5925312"/>
            <a:ext cx="914400" cy="146304"/>
          </a:xfrm>
          <a:prstGeom prst="rect">
            <a:avLst/>
          </a:prstGeom>
          <a:solidFill>
            <a:srgbClr val="059669">
              <a:alpha val="60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44" name="Text 242"/>
          <p:cNvSpPr/>
          <p:nvPr/>
        </p:nvSpPr>
        <p:spPr>
          <a:xfrm>
            <a:off x="5248656" y="5925312"/>
            <a:ext cx="8412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Joule Copilot</a:t>
            </a:r>
            <a:endParaRPr lang="en-US" sz="680" dirty="0"/>
          </a:p>
        </p:txBody>
      </p:sp>
      <p:sp>
        <p:nvSpPr>
          <p:cNvPr id="245" name="Text 243"/>
          <p:cNvSpPr/>
          <p:nvPr/>
        </p:nvSpPr>
        <p:spPr>
          <a:xfrm>
            <a:off x="5248656" y="6099048"/>
            <a:ext cx="84124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7FD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BTP-native copilot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7FD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context aware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7FD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interaction</a:t>
            </a:r>
            <a:endParaRPr lang="en-US" sz="600" dirty="0"/>
          </a:p>
        </p:txBody>
      </p:sp>
      <p:sp>
        <p:nvSpPr>
          <p:cNvPr id="246" name="Text 244"/>
          <p:cNvSpPr/>
          <p:nvPr/>
        </p:nvSpPr>
        <p:spPr>
          <a:xfrm>
            <a:off x="6327648" y="5733288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 —  Model Context Protocol</a:t>
            </a:r>
            <a:endParaRPr lang="en-US" sz="750" dirty="0"/>
          </a:p>
        </p:txBody>
      </p:sp>
      <p:sp>
        <p:nvSpPr>
          <p:cNvPr id="247" name="Text 245"/>
          <p:cNvSpPr/>
          <p:nvPr/>
        </p:nvSpPr>
        <p:spPr>
          <a:xfrm>
            <a:off x="6327648" y="5879592"/>
            <a:ext cx="50292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2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tool &amp; document access gateway for all agents</a:t>
            </a:r>
            <a:endParaRPr lang="en-US" sz="620" dirty="0"/>
          </a:p>
        </p:txBody>
      </p:sp>
      <p:sp>
        <p:nvSpPr>
          <p:cNvPr id="248" name="Shape 246"/>
          <p:cNvSpPr/>
          <p:nvPr/>
        </p:nvSpPr>
        <p:spPr>
          <a:xfrm>
            <a:off x="6327648" y="5925312"/>
            <a:ext cx="868680" cy="676656"/>
          </a:xfrm>
          <a:prstGeom prst="roundRect">
            <a:avLst>
              <a:gd name="adj" fmla="val 6757"/>
            </a:avLst>
          </a:prstGeom>
          <a:solidFill>
            <a:srgbClr val="0A2818"/>
          </a:solidFill>
          <a:ln w="6350">
            <a:solidFill>
              <a:srgbClr val="15A060"/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6327648" y="5925312"/>
            <a:ext cx="868680" cy="146304"/>
          </a:xfrm>
          <a:prstGeom prst="rect">
            <a:avLst/>
          </a:prstGeom>
          <a:solidFill>
            <a:srgbClr val="15A060">
              <a:alpha val="50000"/>
            </a:srgbClr>
          </a:solidFill>
          <a:ln w="12700">
            <a:solidFill>
              <a:srgbClr val="15A060"/>
            </a:solidFill>
            <a:prstDash val="solid"/>
          </a:ln>
        </p:spPr>
      </p:sp>
      <p:sp>
        <p:nvSpPr>
          <p:cNvPr id="250" name="Text 248"/>
          <p:cNvSpPr/>
          <p:nvPr/>
        </p:nvSpPr>
        <p:spPr>
          <a:xfrm>
            <a:off x="6364224" y="5925312"/>
            <a:ext cx="7955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650" dirty="0"/>
          </a:p>
        </p:txBody>
      </p:sp>
      <p:sp>
        <p:nvSpPr>
          <p:cNvPr id="251" name="Text 249"/>
          <p:cNvSpPr/>
          <p:nvPr/>
        </p:nvSpPr>
        <p:spPr>
          <a:xfrm>
            <a:off x="6364224" y="6099048"/>
            <a:ext cx="79552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7FD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BTP-hosted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7FD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hub</a:t>
            </a:r>
            <a:endParaRPr lang="en-US" sz="600" dirty="0"/>
          </a:p>
        </p:txBody>
      </p:sp>
      <p:sp>
        <p:nvSpPr>
          <p:cNvPr id="252" name="Shape 250"/>
          <p:cNvSpPr/>
          <p:nvPr/>
        </p:nvSpPr>
        <p:spPr>
          <a:xfrm>
            <a:off x="7260336" y="5925312"/>
            <a:ext cx="868680" cy="676656"/>
          </a:xfrm>
          <a:prstGeom prst="roundRect">
            <a:avLst>
              <a:gd name="adj" fmla="val 6757"/>
            </a:avLst>
          </a:prstGeom>
          <a:solidFill>
            <a:srgbClr val="0A2818"/>
          </a:solidFill>
          <a:ln w="6350">
            <a:solidFill>
              <a:srgbClr val="15A060"/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7260336" y="5925312"/>
            <a:ext cx="868680" cy="146304"/>
          </a:xfrm>
          <a:prstGeom prst="rect">
            <a:avLst/>
          </a:prstGeom>
          <a:solidFill>
            <a:srgbClr val="15A060">
              <a:alpha val="50000"/>
            </a:srgbClr>
          </a:solidFill>
          <a:ln w="12700">
            <a:solidFill>
              <a:srgbClr val="15A060"/>
            </a:solidFill>
            <a:prstDash val="solid"/>
          </a:ln>
        </p:spPr>
      </p:sp>
      <p:sp>
        <p:nvSpPr>
          <p:cNvPr id="254" name="Text 252"/>
          <p:cNvSpPr/>
          <p:nvPr/>
        </p:nvSpPr>
        <p:spPr>
          <a:xfrm>
            <a:off x="7296912" y="5925312"/>
            <a:ext cx="7955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 MCP</a:t>
            </a:r>
            <a:endParaRPr lang="en-US" sz="650" dirty="0"/>
          </a:p>
        </p:txBody>
      </p:sp>
      <p:sp>
        <p:nvSpPr>
          <p:cNvPr id="255" name="Text 253"/>
          <p:cNvSpPr/>
          <p:nvPr/>
        </p:nvSpPr>
        <p:spPr>
          <a:xfrm>
            <a:off x="7296912" y="6099048"/>
            <a:ext cx="79552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7FD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Graph API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7FD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 auth</a:t>
            </a:r>
            <a:endParaRPr lang="en-US" sz="600" dirty="0"/>
          </a:p>
        </p:txBody>
      </p:sp>
      <p:sp>
        <p:nvSpPr>
          <p:cNvPr id="256" name="Shape 254"/>
          <p:cNvSpPr/>
          <p:nvPr/>
        </p:nvSpPr>
        <p:spPr>
          <a:xfrm>
            <a:off x="8193024" y="5925312"/>
            <a:ext cx="868680" cy="676656"/>
          </a:xfrm>
          <a:prstGeom prst="roundRect">
            <a:avLst>
              <a:gd name="adj" fmla="val 6757"/>
            </a:avLst>
          </a:prstGeom>
          <a:solidFill>
            <a:srgbClr val="0A2818"/>
          </a:solidFill>
          <a:ln w="6350">
            <a:solidFill>
              <a:srgbClr val="15A060"/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8193024" y="5925312"/>
            <a:ext cx="868680" cy="146304"/>
          </a:xfrm>
          <a:prstGeom prst="rect">
            <a:avLst/>
          </a:prstGeom>
          <a:solidFill>
            <a:srgbClr val="15A060">
              <a:alpha val="50000"/>
            </a:srgbClr>
          </a:solidFill>
          <a:ln w="12700">
            <a:solidFill>
              <a:srgbClr val="15A060"/>
            </a:solidFill>
            <a:prstDash val="solid"/>
          </a:ln>
        </p:spPr>
      </p:sp>
      <p:sp>
        <p:nvSpPr>
          <p:cNvPr id="258" name="Text 256"/>
          <p:cNvSpPr/>
          <p:nvPr/>
        </p:nvSpPr>
        <p:spPr>
          <a:xfrm>
            <a:off x="8229600" y="5925312"/>
            <a:ext cx="7955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Server MCP</a:t>
            </a:r>
            <a:endParaRPr lang="en-US" sz="650" dirty="0"/>
          </a:p>
        </p:txBody>
      </p:sp>
      <p:sp>
        <p:nvSpPr>
          <p:cNvPr id="259" name="Text 257"/>
          <p:cNvSpPr/>
          <p:nvPr/>
        </p:nvSpPr>
        <p:spPr>
          <a:xfrm>
            <a:off x="8229600" y="6099048"/>
            <a:ext cx="79552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7FD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NFS / SMB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7FD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IAS auth</a:t>
            </a:r>
            <a:endParaRPr lang="en-US" sz="600" dirty="0"/>
          </a:p>
        </p:txBody>
      </p:sp>
      <p:sp>
        <p:nvSpPr>
          <p:cNvPr id="260" name="Shape 258"/>
          <p:cNvSpPr/>
          <p:nvPr/>
        </p:nvSpPr>
        <p:spPr>
          <a:xfrm>
            <a:off x="9125712" y="5925312"/>
            <a:ext cx="868680" cy="676656"/>
          </a:xfrm>
          <a:prstGeom prst="roundRect">
            <a:avLst>
              <a:gd name="adj" fmla="val 6757"/>
            </a:avLst>
          </a:prstGeom>
          <a:solidFill>
            <a:srgbClr val="0A2818"/>
          </a:solidFill>
          <a:ln w="6350">
            <a:solidFill>
              <a:srgbClr val="15A060"/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9125712" y="5925312"/>
            <a:ext cx="868680" cy="146304"/>
          </a:xfrm>
          <a:prstGeom prst="rect">
            <a:avLst/>
          </a:prstGeom>
          <a:solidFill>
            <a:srgbClr val="15A060">
              <a:alpha val="50000"/>
            </a:srgbClr>
          </a:solidFill>
          <a:ln w="12700">
            <a:solidFill>
              <a:srgbClr val="15A060"/>
            </a:solidFill>
            <a:prstDash val="solid"/>
          </a:ln>
        </p:spPr>
      </p:sp>
      <p:sp>
        <p:nvSpPr>
          <p:cNvPr id="262" name="Text 260"/>
          <p:cNvSpPr/>
          <p:nvPr/>
        </p:nvSpPr>
        <p:spPr>
          <a:xfrm>
            <a:off x="9162288" y="5925312"/>
            <a:ext cx="7955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BDC Docs MCP</a:t>
            </a:r>
            <a:endParaRPr lang="en-US" sz="650" dirty="0"/>
          </a:p>
        </p:txBody>
      </p:sp>
      <p:sp>
        <p:nvSpPr>
          <p:cNvPr id="263" name="Text 261"/>
          <p:cNvSpPr/>
          <p:nvPr/>
        </p:nvSpPr>
        <p:spPr>
          <a:xfrm>
            <a:off x="9162288" y="6099048"/>
            <a:ext cx="79552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7FD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S/4 Help / KBA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7FD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context</a:t>
            </a:r>
            <a:endParaRPr lang="en-US" sz="600" dirty="0"/>
          </a:p>
        </p:txBody>
      </p:sp>
      <p:sp>
        <p:nvSpPr>
          <p:cNvPr id="264" name="Shape 262"/>
          <p:cNvSpPr/>
          <p:nvPr/>
        </p:nvSpPr>
        <p:spPr>
          <a:xfrm>
            <a:off x="10058400" y="5925312"/>
            <a:ext cx="868680" cy="676656"/>
          </a:xfrm>
          <a:prstGeom prst="roundRect">
            <a:avLst>
              <a:gd name="adj" fmla="val 6757"/>
            </a:avLst>
          </a:prstGeom>
          <a:solidFill>
            <a:srgbClr val="0A2818"/>
          </a:solidFill>
          <a:ln w="6350">
            <a:solidFill>
              <a:srgbClr val="15A060"/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10058400" y="5925312"/>
            <a:ext cx="868680" cy="146304"/>
          </a:xfrm>
          <a:prstGeom prst="rect">
            <a:avLst/>
          </a:prstGeom>
          <a:solidFill>
            <a:srgbClr val="15A060">
              <a:alpha val="50000"/>
            </a:srgbClr>
          </a:solidFill>
          <a:ln w="12700">
            <a:solidFill>
              <a:srgbClr val="15A060"/>
            </a:solidFill>
            <a:prstDash val="solid"/>
          </a:ln>
        </p:spPr>
      </p:sp>
      <p:sp>
        <p:nvSpPr>
          <p:cNvPr id="266" name="Text 264"/>
          <p:cNvSpPr/>
          <p:nvPr/>
        </p:nvSpPr>
        <p:spPr>
          <a:xfrm>
            <a:off x="10094976" y="5925312"/>
            <a:ext cx="7955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Registry</a:t>
            </a:r>
            <a:endParaRPr lang="en-US" sz="650" dirty="0"/>
          </a:p>
        </p:txBody>
      </p:sp>
      <p:sp>
        <p:nvSpPr>
          <p:cNvPr id="267" name="Text 265"/>
          <p:cNvSpPr/>
          <p:nvPr/>
        </p:nvSpPr>
        <p:spPr>
          <a:xfrm>
            <a:off x="10094976" y="6099048"/>
            <a:ext cx="79552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7FD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of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7FD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tools</a:t>
            </a:r>
            <a:endParaRPr lang="en-US" sz="600" dirty="0"/>
          </a:p>
        </p:txBody>
      </p:sp>
      <p:sp>
        <p:nvSpPr>
          <p:cNvPr id="268" name="Shape 266"/>
          <p:cNvSpPr/>
          <p:nvPr/>
        </p:nvSpPr>
        <p:spPr>
          <a:xfrm>
            <a:off x="10991088" y="5925312"/>
            <a:ext cx="868680" cy="676656"/>
          </a:xfrm>
          <a:prstGeom prst="roundRect">
            <a:avLst>
              <a:gd name="adj" fmla="val 6757"/>
            </a:avLst>
          </a:prstGeom>
          <a:solidFill>
            <a:srgbClr val="0A2818"/>
          </a:solidFill>
          <a:ln w="6350">
            <a:solidFill>
              <a:srgbClr val="15A060"/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10991088" y="5925312"/>
            <a:ext cx="868680" cy="146304"/>
          </a:xfrm>
          <a:prstGeom prst="rect">
            <a:avLst/>
          </a:prstGeom>
          <a:solidFill>
            <a:srgbClr val="15A060">
              <a:alpha val="50000"/>
            </a:srgbClr>
          </a:solidFill>
          <a:ln w="12700">
            <a:solidFill>
              <a:srgbClr val="15A060"/>
            </a:solidFill>
            <a:prstDash val="solid"/>
          </a:ln>
        </p:spPr>
      </p:sp>
      <p:sp>
        <p:nvSpPr>
          <p:cNvPr id="270" name="Text 268"/>
          <p:cNvSpPr/>
          <p:nvPr/>
        </p:nvSpPr>
        <p:spPr>
          <a:xfrm>
            <a:off x="11027664" y="5925312"/>
            <a:ext cx="7955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Gateway</a:t>
            </a:r>
            <a:endParaRPr lang="en-US" sz="650" dirty="0"/>
          </a:p>
        </p:txBody>
      </p:sp>
      <p:sp>
        <p:nvSpPr>
          <p:cNvPr id="271" name="Text 269"/>
          <p:cNvSpPr/>
          <p:nvPr/>
        </p:nvSpPr>
        <p:spPr>
          <a:xfrm>
            <a:off x="11027664" y="6099048"/>
            <a:ext cx="79552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7FD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7FD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IAS / IDP</a:t>
            </a:r>
            <a:endParaRPr lang="en-US" sz="600" dirty="0"/>
          </a:p>
        </p:txBody>
      </p:sp>
      <p:sp>
        <p:nvSpPr>
          <p:cNvPr id="272" name="Shape 270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040A14"/>
          </a:solidFill>
          <a:ln w="12700">
            <a:solidFill>
              <a:srgbClr val="040A14"/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>
            <a:off x="365760" y="6574536"/>
            <a:ext cx="201168" cy="14630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74" name="Text 272"/>
          <p:cNvSpPr/>
          <p:nvPr/>
        </p:nvSpPr>
        <p:spPr>
          <a:xfrm>
            <a:off x="603504" y="6565392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Source Layer</a:t>
            </a:r>
            <a:endParaRPr lang="en-US" sz="700" dirty="0"/>
          </a:p>
        </p:txBody>
      </p:sp>
      <p:sp>
        <p:nvSpPr>
          <p:cNvPr id="275" name="Shape 273"/>
          <p:cNvSpPr/>
          <p:nvPr/>
        </p:nvSpPr>
        <p:spPr>
          <a:xfrm>
            <a:off x="2148840" y="6574536"/>
            <a:ext cx="201168" cy="14630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76" name="Text 274"/>
          <p:cNvSpPr/>
          <p:nvPr/>
        </p:nvSpPr>
        <p:spPr>
          <a:xfrm>
            <a:off x="2386584" y="6565392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BDC / Data Layer</a:t>
            </a:r>
            <a:endParaRPr lang="en-US" sz="700" dirty="0"/>
          </a:p>
        </p:txBody>
      </p:sp>
      <p:sp>
        <p:nvSpPr>
          <p:cNvPr id="277" name="Shape 275"/>
          <p:cNvSpPr/>
          <p:nvPr/>
        </p:nvSpPr>
        <p:spPr>
          <a:xfrm>
            <a:off x="3931920" y="6574536"/>
            <a:ext cx="201168" cy="14630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8" name="Text 276"/>
          <p:cNvSpPr/>
          <p:nvPr/>
        </p:nvSpPr>
        <p:spPr>
          <a:xfrm>
            <a:off x="4169664" y="6565392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Agent Layer</a:t>
            </a:r>
            <a:endParaRPr lang="en-US" sz="700" dirty="0"/>
          </a:p>
        </p:txBody>
      </p:sp>
      <p:sp>
        <p:nvSpPr>
          <p:cNvPr id="279" name="Shape 277"/>
          <p:cNvSpPr/>
          <p:nvPr/>
        </p:nvSpPr>
        <p:spPr>
          <a:xfrm>
            <a:off x="5715000" y="6574536"/>
            <a:ext cx="201168" cy="14630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80" name="Text 278"/>
          <p:cNvSpPr/>
          <p:nvPr/>
        </p:nvSpPr>
        <p:spPr>
          <a:xfrm>
            <a:off x="5952744" y="6565392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AI + MCP Layer</a:t>
            </a:r>
            <a:endParaRPr lang="en-US" sz="700" dirty="0"/>
          </a:p>
        </p:txBody>
      </p:sp>
      <p:sp>
        <p:nvSpPr>
          <p:cNvPr id="281" name="Shape 279"/>
          <p:cNvSpPr/>
          <p:nvPr/>
        </p:nvSpPr>
        <p:spPr>
          <a:xfrm>
            <a:off x="9098280" y="6556248"/>
            <a:ext cx="1261872" cy="201168"/>
          </a:xfrm>
          <a:prstGeom prst="roundRect">
            <a:avLst>
              <a:gd name="adj" fmla="val 18182"/>
            </a:avLst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282" name="Text 280"/>
          <p:cNvSpPr/>
          <p:nvPr/>
        </p:nvSpPr>
        <p:spPr>
          <a:xfrm>
            <a:off x="9098280" y="6556248"/>
            <a:ext cx="1261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BTP Runtime</a:t>
            </a:r>
            <a:endParaRPr lang="en-US" sz="700" dirty="0"/>
          </a:p>
        </p:txBody>
      </p:sp>
      <p:sp>
        <p:nvSpPr>
          <p:cNvPr id="283" name="Shape 281"/>
          <p:cNvSpPr/>
          <p:nvPr/>
        </p:nvSpPr>
        <p:spPr>
          <a:xfrm>
            <a:off x="10442448" y="6556248"/>
            <a:ext cx="1536192" cy="201168"/>
          </a:xfrm>
          <a:prstGeom prst="roundRect">
            <a:avLst>
              <a:gd name="adj" fmla="val 18182"/>
            </a:avLst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4" name="Text 282"/>
          <p:cNvSpPr/>
          <p:nvPr/>
        </p:nvSpPr>
        <p:spPr>
          <a:xfrm>
            <a:off x="10442448" y="6556248"/>
            <a:ext cx="1536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 |  SAP AI Core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2026-02-25T18:52:57Z</dcterms:created>
  <dcterms:modified xsi:type="dcterms:W3CDTF">2026-02-25T18:52:57Z</dcterms:modified>
</cp:coreProperties>
</file>